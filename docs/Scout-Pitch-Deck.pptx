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Scout turns a plain-English request into a clean, structured dataset, and proves every single value with the exact sentence it came from. Built for Code Cubicle 6.0, problem statement 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data question today means building another scraper. LLMs make that faster, but they hallucinate values no page ever stated. Without the source sentence you can't check anything, so the data can't be trusted.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in. The AI plans the dataset and you can edit it. Scout collects only from permitted pages, extracts each value with a verbatim quote, merges and cross-checks across sites, and delivers a live, searchable dataset. A gap-fill loop searches again if it finds too few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value must come with a verbatim quote that really appears on the page, and the value must be inside that quote. Unproven values are dropped and counted. Fields are cross-checked across independent sites, and Click-to-Proof shows the exact sentence, source and screenshot for any cell.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a real request Scout produced 59 clean rows in about a minute, merged 5 duplicates, and rejected 15 values whose quotes were not on the page. The hosted free-tier version produced 56 rows for the same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requirement of problem statement 01 is implemented: natural-language planning, dynamic workflows, permitted multi-source collection, cleaning and deduplication, source-backed traceability, task monitoring, an interactive dashboard, history, and search, filter and export.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frontend is Next.js with a live React Flow graph. The backend is FastAPI with an async pipeline that streams events. Groq's free models do the planning and extraction, with automatic fallback when rate-limited. It runs entirely on free tiers: Vercel and Render with Postgres.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Scout: no quote, no value. The live app, source code and demo video are all linked here.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scout-online.vercel.app" TargetMode="External"/><Relationship Id="rId3" Type="http://schemas.openxmlformats.org/officeDocument/2006/relationships/hyperlink" Target="https://github.com/geekksv/scout" TargetMode="External"/><Relationship Id="rId1"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hyperlink" Target="https://scout-online.vercel.app" TargetMode="External"/><Relationship Id="rId5" Type="http://schemas.openxmlformats.org/officeDocument/2006/relationships/hyperlink" Target="https://github.com/geekksv/scout" TargetMode="External"/><Relationship Id="rId7" Type="http://schemas.openxmlformats.org/officeDocument/2006/relationships/hyperlink" Target="https://github.com/geekksv/scout/releases/tag/v1.0.0" TargetMode="External"/><Relationship Id="rId1" Type="http://schemas.openxmlformats.org/officeDocument/2006/relationships/image" Target="../media/image-8-1.png"/><Relationship Id="rId2" Type="http://schemas.openxmlformats.org/officeDocument/2006/relationships/image" Target="../media/image-8-2.png"/><Relationship Id="rId4" Type="http://schemas.openxmlformats.org/officeDocument/2006/relationships/image" Target="../media/image-8-3.png"/><Relationship Id="rId6" Type="http://schemas.openxmlformats.org/officeDocument/2006/relationships/image" Target="../media/image-8-4.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0A1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1234440"/>
            <a:ext cx="868680" cy="868680"/>
          </a:xfrm>
          <a:prstGeom prst="rect">
            <a:avLst/>
          </a:prstGeom>
        </p:spPr>
      </p:pic>
      <p:sp>
        <p:nvSpPr>
          <p:cNvPr id="3" name="Text 0"/>
          <p:cNvSpPr txBox="1"/>
          <p:nvPr/>
        </p:nvSpPr>
        <p:spPr>
          <a:xfrm>
            <a:off x="640080" y="2240280"/>
            <a:ext cx="5120640" cy="1005840"/>
          </a:xfrm>
          <a:prstGeom prst="rect">
            <a:avLst/>
          </a:prstGeom>
          <a:noFill/>
          <a:ln/>
        </p:spPr>
        <p:txBody>
          <a:bodyPr wrap="square" lIns="0" tIns="0" rIns="0" bIns="0" rtlCol="0" anchor="ctr"/>
          <a:lstStyle/>
          <a:p>
            <a:pPr indent="0" marL="0">
              <a:buNone/>
            </a:pPr>
            <a:r>
              <a:rPr lang="en-US" sz="6600" b="1" dirty="0">
                <a:solidFill>
                  <a:srgbClr val="E7ECF5"/>
                </a:solidFill>
                <a:latin typeface="Calibri" pitchFamily="34" charset="0"/>
                <a:ea typeface="Calibri" pitchFamily="34" charset="-122"/>
                <a:cs typeface="Calibri" pitchFamily="34" charset="-120"/>
              </a:rPr>
              <a:t>Scout</a:t>
            </a:r>
            <a:endParaRPr lang="en-US" sz="6600" dirty="0"/>
          </a:p>
        </p:txBody>
      </p:sp>
      <p:sp>
        <p:nvSpPr>
          <p:cNvPr id="4" name="Text 1"/>
          <p:cNvSpPr txBox="1"/>
          <p:nvPr/>
        </p:nvSpPr>
        <p:spPr>
          <a:xfrm>
            <a:off x="640080" y="3246120"/>
            <a:ext cx="5303520" cy="822960"/>
          </a:xfrm>
          <a:prstGeom prst="rect">
            <a:avLst/>
          </a:prstGeom>
          <a:noFill/>
          <a:ln/>
        </p:spPr>
        <p:txBody>
          <a:bodyPr wrap="square" lIns="0" tIns="0" rIns="0" bIns="0" rtlCol="0" anchor="ctr"/>
          <a:lstStyle/>
          <a:p>
            <a:pPr indent="0" marL="0">
              <a:buNone/>
            </a:pPr>
            <a:r>
              <a:rPr lang="en-US" sz="2400" b="1" dirty="0">
                <a:solidFill>
                  <a:srgbClr val="2DD4BF"/>
                </a:solidFill>
                <a:latin typeface="Calibri" pitchFamily="34" charset="0"/>
                <a:ea typeface="Calibri" pitchFamily="34" charset="-122"/>
                <a:cs typeface="Calibri" pitchFamily="34" charset="-120"/>
              </a:rPr>
              <a:t>Describe the data. Scout proves every value.</a:t>
            </a:r>
            <a:endParaRPr lang="en-US" sz="2400" dirty="0"/>
          </a:p>
        </p:txBody>
      </p:sp>
      <p:sp>
        <p:nvSpPr>
          <p:cNvPr id="5" name="Text 2"/>
          <p:cNvSpPr txBox="1"/>
          <p:nvPr/>
        </p:nvSpPr>
        <p:spPr>
          <a:xfrm>
            <a:off x="640080" y="4114800"/>
            <a:ext cx="5029200" cy="868680"/>
          </a:xfrm>
          <a:prstGeom prst="rect">
            <a:avLst/>
          </a:prstGeom>
          <a:noFill/>
          <a:ln/>
        </p:spPr>
        <p:txBody>
          <a:bodyPr wrap="square" lIns="0" tIns="0" rIns="0" bIns="0" rtlCol="0" anchor="ctr"/>
          <a:lstStyle/>
          <a:p>
            <a:pPr indent="0" marL="0">
              <a:buNone/>
            </a:pPr>
            <a:r>
              <a:rPr lang="en-US" sz="1500" dirty="0">
                <a:solidFill>
                  <a:srgbClr val="94A3B8"/>
                </a:solidFill>
                <a:latin typeface="Calibri" pitchFamily="34" charset="0"/>
                <a:ea typeface="Calibri" pitchFamily="34" charset="-122"/>
                <a:cs typeface="Calibri" pitchFamily="34" charset="-120"/>
              </a:rPr>
              <a:t>An AI-powered data intelligence platform that turns a plain-English request into a clean, source-backed dataset.</a:t>
            </a:r>
            <a:endParaRPr lang="en-US" sz="1500" dirty="0"/>
          </a:p>
        </p:txBody>
      </p:sp>
      <p:sp>
        <p:nvSpPr>
          <p:cNvPr id="6" name="Text 3"/>
          <p:cNvSpPr txBox="1"/>
          <p:nvPr/>
        </p:nvSpPr>
        <p:spPr>
          <a:xfrm>
            <a:off x="640080" y="5257800"/>
            <a:ext cx="5486400" cy="731520"/>
          </a:xfrm>
          <a:prstGeom prst="rect">
            <a:avLst/>
          </a:prstGeom>
          <a:noFill/>
          <a:ln/>
        </p:spPr>
        <p:txBody>
          <a:bodyPr wrap="square" lIns="0" tIns="0" rIns="0" bIns="0" rtlCol="0" anchor="ctr"/>
          <a:lstStyle/>
          <a:p>
            <a:pPr indent="0" marL="0">
              <a:buNone/>
            </a:pPr>
            <a:r>
              <a:rPr lang="en-US" sz="1300" b="1" dirty="0">
                <a:solidFill>
                  <a:srgbClr val="E7ECF5"/>
                </a:solidFill>
                <a:latin typeface="Calibri" pitchFamily="34" charset="0"/>
                <a:ea typeface="Calibri" pitchFamily="34" charset="-122"/>
                <a:cs typeface="Calibri" pitchFamily="34" charset="-120"/>
              </a:rPr>
              <a:t>Code Cubicle 6.0  ·  Problem Statement 01</a:t>
            </a:r>
            <a:endParaRPr lang="en-US" sz="1300" dirty="0"/>
          </a:p>
          <a:p>
            <a:pPr indent="0" marL="0">
              <a:buNone/>
            </a:pPr>
            <a:r>
              <a:rPr lang="en-US" sz="1300" u="sng" dirty="0">
                <a:solidFill>
                  <a:srgbClr val="38BDF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scout-online.vercel.app</a:t>
            </a:r>
            <a:pPr indent="0" marL="0">
              <a:buNone/>
            </a:pPr>
            <a:r>
              <a:rPr lang="en-US" sz="1300" dirty="0">
                <a:solidFill>
                  <a:srgbClr val="94A3B8"/>
                </a:solidFill>
                <a:latin typeface="Calibri" pitchFamily="34" charset="0"/>
                <a:ea typeface="Calibri" pitchFamily="34" charset="-122"/>
                <a:cs typeface="Calibri" pitchFamily="34" charset="-120"/>
              </a:rPr>
              <a:t>   ·   </a:t>
            </a:r>
            <a:pPr indent="0" marL="0">
              <a:buNone/>
            </a:pPr>
            <a:r>
              <a:rPr lang="en-US" sz="1300" u="sng" dirty="0">
                <a:solidFill>
                  <a:srgbClr val="38BDF8"/>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github.com/geekksv/scout</a:t>
            </a:r>
            <a:endParaRPr lang="en-US" sz="1300" dirty="0"/>
          </a:p>
        </p:txBody>
      </p:sp>
      <p:sp>
        <p:nvSpPr>
          <p:cNvPr id="7" name="Shape 4"/>
          <p:cNvSpPr/>
          <p:nvPr/>
        </p:nvSpPr>
        <p:spPr>
          <a:xfrm>
            <a:off x="6208776" y="2093976"/>
            <a:ext cx="5504688" cy="2544953"/>
          </a:xfrm>
          <a:prstGeom prst="roundRect">
            <a:avLst>
              <a:gd name="adj" fmla="val 3593"/>
            </a:avLst>
          </a:prstGeom>
          <a:solidFill>
            <a:srgbClr val="16213A"/>
          </a:solidFill>
          <a:ln w="15875">
            <a:solidFill>
              <a:srgbClr val="2DD4BF">
                <a:alpha val="50000"/>
              </a:srgbClr>
            </a:solidFill>
            <a:prstDash val="solid"/>
          </a:ln>
          <a:effectLst>
            <a:outerShdw sx="100000" sy="100000" kx="0" ky="0" algn="bl" rotWithShape="0" blurRad="177800" dist="50800" dir="5400000">
              <a:srgbClr val="000000">
                <a:alpha val="50000"/>
              </a:srgbClr>
            </a:outerShdw>
          </a:effectLst>
        </p:spPr>
      </p:sp>
      <p:pic>
        <p:nvPicPr>
          <p:cNvPr id="8" name="Image 1" descr="preencoded.png">    </p:cNvPr>
          <p:cNvPicPr>
            <a:picLocks noChangeAspect="1"/>
          </p:cNvPicPr>
          <p:nvPr/>
        </p:nvPicPr>
        <p:blipFill>
          <a:blip r:embed="rId4"/>
          <a:stretch>
            <a:fillRect/>
          </a:stretch>
        </p:blipFill>
        <p:spPr>
          <a:xfrm>
            <a:off x="6263640" y="2148840"/>
            <a:ext cx="5394960" cy="243522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60A13"/>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600" b="1" dirty="0">
                <a:solidFill>
                  <a:srgbClr val="E7ECF5"/>
                </a:solidFill>
                <a:latin typeface="Calibri" pitchFamily="34" charset="0"/>
                <a:ea typeface="Calibri" pitchFamily="34" charset="-122"/>
                <a:cs typeface="Calibri" pitchFamily="34" charset="-120"/>
              </a:rPr>
              <a:t>Web data is easy to scrape — and hard to trust</a:t>
            </a:r>
            <a:endParaRPr lang="en-US" sz="3600" dirty="0"/>
          </a:p>
        </p:txBody>
      </p:sp>
      <p:sp>
        <p:nvSpPr>
          <p:cNvPr id="3" name="Text 1"/>
          <p:cNvSpPr txBox="1"/>
          <p:nvPr/>
        </p:nvSpPr>
        <p:spPr>
          <a:xfrm>
            <a:off x="548640" y="1115568"/>
            <a:ext cx="11064240" cy="411480"/>
          </a:xfrm>
          <a:prstGeom prst="rect">
            <a:avLst/>
          </a:prstGeom>
          <a:noFill/>
          <a:ln/>
        </p:spPr>
        <p:txBody>
          <a:bodyPr wrap="square" lIns="0" tIns="0" rIns="0" bIns="0" rtlCol="0" anchor="ctr"/>
          <a:lstStyle/>
          <a:p>
            <a:pPr indent="0" marL="0">
              <a:buNone/>
            </a:pPr>
            <a:r>
              <a:rPr lang="en-US" sz="1600" dirty="0">
                <a:solidFill>
                  <a:srgbClr val="94A3B8"/>
                </a:solidFill>
                <a:latin typeface="Calibri" pitchFamily="34" charset="0"/>
                <a:ea typeface="Calibri" pitchFamily="34" charset="-122"/>
                <a:cs typeface="Calibri" pitchFamily="34" charset="-120"/>
              </a:rPr>
              <a:t>Teams need leads, jobs, sponsors and market lists from the web every week.</a:t>
            </a:r>
            <a:endParaRPr lang="en-US" sz="1600" dirty="0"/>
          </a:p>
        </p:txBody>
      </p:sp>
      <p:sp>
        <p:nvSpPr>
          <p:cNvPr id="4" name="Shape 2"/>
          <p:cNvSpPr/>
          <p:nvPr/>
        </p:nvSpPr>
        <p:spPr>
          <a:xfrm>
            <a:off x="548640" y="1920240"/>
            <a:ext cx="3520440" cy="3017520"/>
          </a:xfrm>
          <a:prstGeom prst="roundRect">
            <a:avLst>
              <a:gd name="adj" fmla="val 3636"/>
            </a:avLst>
          </a:prstGeom>
          <a:solidFill>
            <a:srgbClr val="0F1728"/>
          </a:solidFill>
          <a:ln w="12700">
            <a:solidFill>
              <a:srgbClr val="243352"/>
            </a:solidFill>
            <a:prstDash val="solid"/>
          </a:ln>
          <a:effectLst>
            <a:outerShdw sx="100000" sy="100000" kx="0" ky="0" algn="bl" rotWithShape="0" blurRad="101600" dist="25400" dir="5400000">
              <a:srgbClr val="000000">
                <a:alpha val="35000"/>
              </a:srgbClr>
            </a:outerShdw>
          </a:effectLst>
        </p:spPr>
      </p:sp>
      <p:sp>
        <p:nvSpPr>
          <p:cNvPr id="5" name="Shape 3"/>
          <p:cNvSpPr/>
          <p:nvPr/>
        </p:nvSpPr>
        <p:spPr>
          <a:xfrm>
            <a:off x="868680" y="2240280"/>
            <a:ext cx="640080" cy="640080"/>
          </a:xfrm>
          <a:prstGeom prst="ellipse">
            <a:avLst/>
          </a:prstGeom>
          <a:solidFill>
            <a:srgbClr val="FBBF24">
              <a:alpha val="16000"/>
            </a:srgbClr>
          </a:solidFill>
          <a:ln w="12700">
            <a:solidFill>
              <a:srgbClr val="FBBF24">
                <a:alpha val="45000"/>
              </a:srgbClr>
            </a:solidFill>
            <a:prstDash val="solid"/>
          </a:ln>
        </p:spPr>
      </p:sp>
      <p:pic>
        <p:nvPicPr>
          <p:cNvPr id="6" name="Image 0" descr="preencoded.png">    </p:cNvPr>
          <p:cNvPicPr>
            <a:picLocks noChangeAspect="1"/>
          </p:cNvPicPr>
          <p:nvPr/>
        </p:nvPicPr>
        <p:blipFill>
          <a:blip r:embed="rId1"/>
          <a:stretch>
            <a:fillRect/>
          </a:stretch>
        </p:blipFill>
        <p:spPr>
          <a:xfrm>
            <a:off x="1024128" y="2395728"/>
            <a:ext cx="329184" cy="329184"/>
          </a:xfrm>
          <a:prstGeom prst="rect">
            <a:avLst/>
          </a:prstGeom>
        </p:spPr>
      </p:pic>
      <p:sp>
        <p:nvSpPr>
          <p:cNvPr id="7" name="Text 4"/>
          <p:cNvSpPr txBox="1"/>
          <p:nvPr/>
        </p:nvSpPr>
        <p:spPr>
          <a:xfrm>
            <a:off x="868680" y="3108960"/>
            <a:ext cx="2926080" cy="457200"/>
          </a:xfrm>
          <a:prstGeom prst="rect">
            <a:avLst/>
          </a:prstGeom>
          <a:noFill/>
          <a:ln/>
        </p:spPr>
        <p:txBody>
          <a:bodyPr wrap="square" lIns="0" tIns="0" rIns="0" bIns="0" rtlCol="0" anchor="t"/>
          <a:lstStyle/>
          <a:p>
            <a:pPr indent="0" marL="0">
              <a:buNone/>
            </a:pPr>
            <a:r>
              <a:rPr lang="en-US" sz="1900" b="1" dirty="0">
                <a:solidFill>
                  <a:srgbClr val="E7ECF5"/>
                </a:solidFill>
                <a:latin typeface="Calibri" pitchFamily="34" charset="0"/>
                <a:ea typeface="Calibri" pitchFamily="34" charset="-122"/>
                <a:cs typeface="Calibri" pitchFamily="34" charset="-120"/>
              </a:rPr>
              <a:t>A scraper for every question</a:t>
            </a:r>
            <a:endParaRPr lang="en-US" sz="1900" dirty="0"/>
          </a:p>
        </p:txBody>
      </p:sp>
      <p:sp>
        <p:nvSpPr>
          <p:cNvPr id="8" name="Text 5"/>
          <p:cNvSpPr txBox="1"/>
          <p:nvPr/>
        </p:nvSpPr>
        <p:spPr>
          <a:xfrm>
            <a:off x="868680" y="3611880"/>
            <a:ext cx="2926080" cy="1143000"/>
          </a:xfrm>
          <a:prstGeom prst="rect">
            <a:avLst/>
          </a:prstGeom>
          <a:noFill/>
          <a:ln/>
        </p:spPr>
        <p:txBody>
          <a:bodyPr wrap="square" lIns="0" tIns="0" rIns="0" bIns="0" rtlCol="0" anchor="t"/>
          <a:lstStyle/>
          <a:p>
            <a:pPr indent="0" marL="0">
              <a:buNone/>
            </a:pPr>
            <a:r>
              <a:rPr lang="en-US" sz="1400" dirty="0">
                <a:solidFill>
                  <a:srgbClr val="94A3B8"/>
                </a:solidFill>
                <a:latin typeface="Calibri" pitchFamily="34" charset="0"/>
                <a:ea typeface="Calibri" pitchFamily="34" charset="-122"/>
                <a:cs typeface="Calibri" pitchFamily="34" charset="-120"/>
              </a:rPr>
              <a:t>Each requirement means new code, new selectors and new maintenance when sites change.</a:t>
            </a:r>
            <a:endParaRPr lang="en-US" sz="1400" dirty="0"/>
          </a:p>
        </p:txBody>
      </p:sp>
      <p:sp>
        <p:nvSpPr>
          <p:cNvPr id="9" name="Shape 6"/>
          <p:cNvSpPr/>
          <p:nvPr/>
        </p:nvSpPr>
        <p:spPr>
          <a:xfrm>
            <a:off x="4297680" y="1920240"/>
            <a:ext cx="3520440" cy="3017520"/>
          </a:xfrm>
          <a:prstGeom prst="roundRect">
            <a:avLst>
              <a:gd name="adj" fmla="val 3636"/>
            </a:avLst>
          </a:prstGeom>
          <a:solidFill>
            <a:srgbClr val="0F1728"/>
          </a:solidFill>
          <a:ln w="12700">
            <a:solidFill>
              <a:srgbClr val="243352"/>
            </a:solidFill>
            <a:prstDash val="solid"/>
          </a:ln>
          <a:effectLst>
            <a:outerShdw sx="100000" sy="100000" kx="0" ky="0" algn="bl" rotWithShape="0" blurRad="101600" dist="25400" dir="5400000">
              <a:srgbClr val="000000">
                <a:alpha val="35000"/>
              </a:srgbClr>
            </a:outerShdw>
          </a:effectLst>
        </p:spPr>
      </p:sp>
      <p:sp>
        <p:nvSpPr>
          <p:cNvPr id="10" name="Shape 7"/>
          <p:cNvSpPr/>
          <p:nvPr/>
        </p:nvSpPr>
        <p:spPr>
          <a:xfrm>
            <a:off x="4617720" y="2240280"/>
            <a:ext cx="640080" cy="640080"/>
          </a:xfrm>
          <a:prstGeom prst="ellipse">
            <a:avLst/>
          </a:prstGeom>
          <a:solidFill>
            <a:srgbClr val="FBBF24">
              <a:alpha val="16000"/>
            </a:srgbClr>
          </a:solidFill>
          <a:ln w="12700">
            <a:solidFill>
              <a:srgbClr val="FBBF24">
                <a:alpha val="45000"/>
              </a:srgbClr>
            </a:solidFill>
            <a:prstDash val="solid"/>
          </a:ln>
        </p:spPr>
      </p:sp>
      <p:pic>
        <p:nvPicPr>
          <p:cNvPr id="11" name="Image 1" descr="preencoded.png">    </p:cNvPr>
          <p:cNvPicPr>
            <a:picLocks noChangeAspect="1"/>
          </p:cNvPicPr>
          <p:nvPr/>
        </p:nvPicPr>
        <p:blipFill>
          <a:blip r:embed="rId2"/>
          <a:stretch>
            <a:fillRect/>
          </a:stretch>
        </p:blipFill>
        <p:spPr>
          <a:xfrm>
            <a:off x="4773168" y="2395728"/>
            <a:ext cx="329184" cy="329184"/>
          </a:xfrm>
          <a:prstGeom prst="rect">
            <a:avLst/>
          </a:prstGeom>
        </p:spPr>
      </p:pic>
      <p:sp>
        <p:nvSpPr>
          <p:cNvPr id="12" name="Text 8"/>
          <p:cNvSpPr txBox="1"/>
          <p:nvPr/>
        </p:nvSpPr>
        <p:spPr>
          <a:xfrm>
            <a:off x="4617720" y="3108960"/>
            <a:ext cx="2926080" cy="457200"/>
          </a:xfrm>
          <a:prstGeom prst="rect">
            <a:avLst/>
          </a:prstGeom>
          <a:noFill/>
          <a:ln/>
        </p:spPr>
        <p:txBody>
          <a:bodyPr wrap="square" lIns="0" tIns="0" rIns="0" bIns="0" rtlCol="0" anchor="t"/>
          <a:lstStyle/>
          <a:p>
            <a:pPr indent="0" marL="0">
              <a:buNone/>
            </a:pPr>
            <a:r>
              <a:rPr lang="en-US" sz="1900" b="1" dirty="0">
                <a:solidFill>
                  <a:srgbClr val="E7ECF5"/>
                </a:solidFill>
                <a:latin typeface="Calibri" pitchFamily="34" charset="0"/>
                <a:ea typeface="Calibri" pitchFamily="34" charset="-122"/>
                <a:cs typeface="Calibri" pitchFamily="34" charset="-120"/>
              </a:rPr>
              <a:t>LLM scrapers hallucinate</a:t>
            </a:r>
            <a:endParaRPr lang="en-US" sz="1900" dirty="0"/>
          </a:p>
        </p:txBody>
      </p:sp>
      <p:sp>
        <p:nvSpPr>
          <p:cNvPr id="13" name="Text 9"/>
          <p:cNvSpPr txBox="1"/>
          <p:nvPr/>
        </p:nvSpPr>
        <p:spPr>
          <a:xfrm>
            <a:off x="4617720" y="3611880"/>
            <a:ext cx="2926080" cy="1143000"/>
          </a:xfrm>
          <a:prstGeom prst="rect">
            <a:avLst/>
          </a:prstGeom>
          <a:noFill/>
          <a:ln/>
        </p:spPr>
        <p:txBody>
          <a:bodyPr wrap="square" lIns="0" tIns="0" rIns="0" bIns="0" rtlCol="0" anchor="t"/>
          <a:lstStyle/>
          <a:p>
            <a:pPr indent="0" marL="0">
              <a:buNone/>
            </a:pPr>
            <a:r>
              <a:rPr lang="en-US" sz="1400" dirty="0">
                <a:solidFill>
                  <a:srgbClr val="94A3B8"/>
                </a:solidFill>
                <a:latin typeface="Calibri" pitchFamily="34" charset="0"/>
                <a:ea typeface="Calibri" pitchFamily="34" charset="-122"/>
                <a:cs typeface="Calibri" pitchFamily="34" charset="-120"/>
              </a:rPr>
              <a:t>Language models return confident values — funding rounds, founders, sizes — that no source ever stated.</a:t>
            </a:r>
            <a:endParaRPr lang="en-US" sz="1400" dirty="0"/>
          </a:p>
        </p:txBody>
      </p:sp>
      <p:sp>
        <p:nvSpPr>
          <p:cNvPr id="14" name="Shape 10"/>
          <p:cNvSpPr/>
          <p:nvPr/>
        </p:nvSpPr>
        <p:spPr>
          <a:xfrm>
            <a:off x="8046720" y="1920240"/>
            <a:ext cx="3520440" cy="3017520"/>
          </a:xfrm>
          <a:prstGeom prst="roundRect">
            <a:avLst>
              <a:gd name="adj" fmla="val 3636"/>
            </a:avLst>
          </a:prstGeom>
          <a:solidFill>
            <a:srgbClr val="0F1728"/>
          </a:solidFill>
          <a:ln w="12700">
            <a:solidFill>
              <a:srgbClr val="243352"/>
            </a:solidFill>
            <a:prstDash val="solid"/>
          </a:ln>
          <a:effectLst>
            <a:outerShdw sx="100000" sy="100000" kx="0" ky="0" algn="bl" rotWithShape="0" blurRad="101600" dist="25400" dir="5400000">
              <a:srgbClr val="000000">
                <a:alpha val="35000"/>
              </a:srgbClr>
            </a:outerShdw>
          </a:effectLst>
        </p:spPr>
      </p:sp>
      <p:sp>
        <p:nvSpPr>
          <p:cNvPr id="15" name="Shape 11"/>
          <p:cNvSpPr/>
          <p:nvPr/>
        </p:nvSpPr>
        <p:spPr>
          <a:xfrm>
            <a:off x="8366760" y="2240280"/>
            <a:ext cx="640080" cy="640080"/>
          </a:xfrm>
          <a:prstGeom prst="ellipse">
            <a:avLst/>
          </a:prstGeom>
          <a:solidFill>
            <a:srgbClr val="FBBF24">
              <a:alpha val="16000"/>
            </a:srgbClr>
          </a:solidFill>
          <a:ln w="12700">
            <a:solidFill>
              <a:srgbClr val="FBBF24">
                <a:alpha val="45000"/>
              </a:srgbClr>
            </a:solidFill>
            <a:prstDash val="solid"/>
          </a:ln>
        </p:spPr>
      </p:sp>
      <p:pic>
        <p:nvPicPr>
          <p:cNvPr id="16" name="Image 2" descr="preencoded.png">    </p:cNvPr>
          <p:cNvPicPr>
            <a:picLocks noChangeAspect="1"/>
          </p:cNvPicPr>
          <p:nvPr/>
        </p:nvPicPr>
        <p:blipFill>
          <a:blip r:embed="rId3"/>
          <a:stretch>
            <a:fillRect/>
          </a:stretch>
        </p:blipFill>
        <p:spPr>
          <a:xfrm>
            <a:off x="8522208" y="2395728"/>
            <a:ext cx="329184" cy="329184"/>
          </a:xfrm>
          <a:prstGeom prst="rect">
            <a:avLst/>
          </a:prstGeom>
        </p:spPr>
      </p:pic>
      <p:sp>
        <p:nvSpPr>
          <p:cNvPr id="17" name="Text 12"/>
          <p:cNvSpPr txBox="1"/>
          <p:nvPr/>
        </p:nvSpPr>
        <p:spPr>
          <a:xfrm>
            <a:off x="8366760" y="3108960"/>
            <a:ext cx="2926080" cy="457200"/>
          </a:xfrm>
          <a:prstGeom prst="rect">
            <a:avLst/>
          </a:prstGeom>
          <a:noFill/>
          <a:ln/>
        </p:spPr>
        <p:txBody>
          <a:bodyPr wrap="square" lIns="0" tIns="0" rIns="0" bIns="0" rtlCol="0" anchor="t"/>
          <a:lstStyle/>
          <a:p>
            <a:pPr indent="0" marL="0">
              <a:buNone/>
            </a:pPr>
            <a:r>
              <a:rPr lang="en-US" sz="1900" b="1" dirty="0">
                <a:solidFill>
                  <a:srgbClr val="E7ECF5"/>
                </a:solidFill>
                <a:latin typeface="Calibri" pitchFamily="34" charset="0"/>
                <a:ea typeface="Calibri" pitchFamily="34" charset="-122"/>
                <a:cs typeface="Calibri" pitchFamily="34" charset="-120"/>
              </a:rPr>
              <a:t>Nothing can be verified</a:t>
            </a:r>
            <a:endParaRPr lang="en-US" sz="1900" dirty="0"/>
          </a:p>
        </p:txBody>
      </p:sp>
      <p:sp>
        <p:nvSpPr>
          <p:cNvPr id="18" name="Text 13"/>
          <p:cNvSpPr txBox="1"/>
          <p:nvPr/>
        </p:nvSpPr>
        <p:spPr>
          <a:xfrm>
            <a:off x="8366760" y="3611880"/>
            <a:ext cx="2926080" cy="1143000"/>
          </a:xfrm>
          <a:prstGeom prst="rect">
            <a:avLst/>
          </a:prstGeom>
          <a:noFill/>
          <a:ln/>
        </p:spPr>
        <p:txBody>
          <a:bodyPr wrap="square" lIns="0" tIns="0" rIns="0" bIns="0" rtlCol="0" anchor="t"/>
          <a:lstStyle/>
          <a:p>
            <a:pPr indent="0" marL="0">
              <a:buNone/>
            </a:pPr>
            <a:r>
              <a:rPr lang="en-US" sz="1400" dirty="0">
                <a:solidFill>
                  <a:srgbClr val="94A3B8"/>
                </a:solidFill>
                <a:latin typeface="Calibri" pitchFamily="34" charset="0"/>
                <a:ea typeface="Calibri" pitchFamily="34" charset="-122"/>
                <a:cs typeface="Calibri" pitchFamily="34" charset="-120"/>
              </a:rPr>
              <a:t>Without the source sentence, nobody can check a value, so the dataset can't be used for real decisions.</a:t>
            </a:r>
            <a:endParaRPr lang="en-US" sz="1400" dirty="0"/>
          </a:p>
        </p:txBody>
      </p:sp>
      <p:sp>
        <p:nvSpPr>
          <p:cNvPr id="19" name="Text 14"/>
          <p:cNvSpPr txBox="1"/>
          <p:nvPr/>
        </p:nvSpPr>
        <p:spPr>
          <a:xfrm>
            <a:off x="548640" y="5349240"/>
            <a:ext cx="11064240" cy="548640"/>
          </a:xfrm>
          <a:prstGeom prst="rect">
            <a:avLst/>
          </a:prstGeom>
          <a:noFill/>
          <a:ln/>
        </p:spPr>
        <p:txBody>
          <a:bodyPr wrap="square" lIns="0" tIns="0" rIns="0" bIns="0" rtlCol="0" anchor="ctr"/>
          <a:lstStyle/>
          <a:p>
            <a:pPr indent="0" marL="0">
              <a:buNone/>
            </a:pPr>
            <a:r>
              <a:rPr lang="en-US" sz="2000" i="1" dirty="0">
                <a:solidFill>
                  <a:srgbClr val="E7ECF5"/>
                </a:solidFill>
                <a:latin typeface="Calibri" pitchFamily="34" charset="0"/>
                <a:ea typeface="Calibri" pitchFamily="34" charset="-122"/>
                <a:cs typeface="Calibri" pitchFamily="34" charset="-120"/>
              </a:rPr>
              <a:t>A dataset you cannot verify is a dataset you cannot use.</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60A13"/>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600" b="1" dirty="0">
                <a:solidFill>
                  <a:srgbClr val="E7ECF5"/>
                </a:solidFill>
                <a:latin typeface="Calibri" pitchFamily="34" charset="0"/>
                <a:ea typeface="Calibri" pitchFamily="34" charset="-122"/>
                <a:cs typeface="Calibri" pitchFamily="34" charset="-120"/>
              </a:rPr>
              <a:t>From one sentence to a proven dataset</a:t>
            </a:r>
            <a:endParaRPr lang="en-US" sz="3600" dirty="0"/>
          </a:p>
        </p:txBody>
      </p:sp>
      <p:sp>
        <p:nvSpPr>
          <p:cNvPr id="3" name="Text 1"/>
          <p:cNvSpPr txBox="1"/>
          <p:nvPr/>
        </p:nvSpPr>
        <p:spPr>
          <a:xfrm>
            <a:off x="548640" y="1115568"/>
            <a:ext cx="11064240" cy="411480"/>
          </a:xfrm>
          <a:prstGeom prst="rect">
            <a:avLst/>
          </a:prstGeom>
          <a:noFill/>
          <a:ln/>
        </p:spPr>
        <p:txBody>
          <a:bodyPr wrap="square" lIns="0" tIns="0" rIns="0" bIns="0" rtlCol="0" anchor="ctr"/>
          <a:lstStyle/>
          <a:p>
            <a:pPr indent="0" marL="0">
              <a:buNone/>
            </a:pPr>
            <a:r>
              <a:rPr lang="en-US" sz="1600" dirty="0">
                <a:solidFill>
                  <a:srgbClr val="94A3B8"/>
                </a:solidFill>
                <a:latin typeface="Calibri" pitchFamily="34" charset="0"/>
                <a:ea typeface="Calibri" pitchFamily="34" charset="-122"/>
                <a:cs typeface="Calibri" pitchFamily="34" charset="-120"/>
              </a:rPr>
              <a:t>Scout designs and runs a custom collection workflow for every request.</a:t>
            </a:r>
            <a:endParaRPr lang="en-US" sz="1600" dirty="0"/>
          </a:p>
        </p:txBody>
      </p:sp>
      <p:sp>
        <p:nvSpPr>
          <p:cNvPr id="4" name="Shape 2"/>
          <p:cNvSpPr/>
          <p:nvPr/>
        </p:nvSpPr>
        <p:spPr>
          <a:xfrm>
            <a:off x="548640" y="1783080"/>
            <a:ext cx="11064240" cy="685800"/>
          </a:xfrm>
          <a:prstGeom prst="roundRect">
            <a:avLst>
              <a:gd name="adj" fmla="val 13333"/>
            </a:avLst>
          </a:prstGeom>
          <a:solidFill>
            <a:srgbClr val="16213A"/>
          </a:solidFill>
          <a:ln w="12700">
            <a:solidFill>
              <a:srgbClr val="243352"/>
            </a:solidFill>
            <a:prstDash val="solid"/>
          </a:ln>
        </p:spPr>
      </p:sp>
      <p:sp>
        <p:nvSpPr>
          <p:cNvPr id="5" name="Text 3"/>
          <p:cNvSpPr txBox="1"/>
          <p:nvPr/>
        </p:nvSpPr>
        <p:spPr>
          <a:xfrm>
            <a:off x="777240" y="1783080"/>
            <a:ext cx="10698480" cy="685800"/>
          </a:xfrm>
          <a:prstGeom prst="rect">
            <a:avLst/>
          </a:prstGeom>
          <a:noFill/>
          <a:ln/>
        </p:spPr>
        <p:txBody>
          <a:bodyPr wrap="square" lIns="0" tIns="0" rIns="0" bIns="0" rtlCol="0" anchor="ctr"/>
          <a:lstStyle/>
          <a:p>
            <a:pPr indent="0" marL="0">
              <a:buNone/>
            </a:pPr>
            <a:r>
              <a:rPr lang="en-US" sz="1600" b="1" dirty="0">
                <a:solidFill>
                  <a:srgbClr val="2DD4BF"/>
                </a:solidFill>
                <a:latin typeface="Calibri" pitchFamily="34" charset="0"/>
                <a:ea typeface="Calibri" pitchFamily="34" charset="-122"/>
                <a:cs typeface="Calibri" pitchFamily="34" charset="-120"/>
              </a:rPr>
              <a:t>Prompt  </a:t>
            </a:r>
            <a:pPr indent="0" marL="0">
              <a:buNone/>
            </a:pPr>
            <a:r>
              <a:rPr lang="en-US" sz="1600" dirty="0">
                <a:solidFill>
                  <a:srgbClr val="E7ECF5"/>
                </a:solidFill>
                <a:latin typeface="Calibri" pitchFamily="34" charset="0"/>
                <a:ea typeface="Calibri" pitchFamily="34" charset="-122"/>
                <a:cs typeface="Calibri" pitchFamily="34" charset="-120"/>
              </a:rPr>
              <a:t>“Find AI startups in Bangalore with their funding stage, founding year, founders and website”</a:t>
            </a:r>
            <a:endParaRPr lang="en-US" sz="1600" dirty="0"/>
          </a:p>
        </p:txBody>
      </p:sp>
      <p:sp>
        <p:nvSpPr>
          <p:cNvPr id="6" name="Shape 4"/>
          <p:cNvSpPr/>
          <p:nvPr/>
        </p:nvSpPr>
        <p:spPr>
          <a:xfrm>
            <a:off x="548640" y="2880360"/>
            <a:ext cx="2029968" cy="2743200"/>
          </a:xfrm>
          <a:prstGeom prst="roundRect">
            <a:avLst>
              <a:gd name="adj" fmla="val 5405"/>
            </a:avLst>
          </a:prstGeom>
          <a:solidFill>
            <a:srgbClr val="0F1728"/>
          </a:solidFill>
          <a:ln w="12700">
            <a:solidFill>
              <a:srgbClr val="243352"/>
            </a:solidFill>
            <a:prstDash val="solid"/>
          </a:ln>
          <a:effectLst>
            <a:outerShdw sx="100000" sy="100000" kx="0" ky="0" algn="bl" rotWithShape="0" blurRad="101600" dist="25400" dir="5400000">
              <a:srgbClr val="000000">
                <a:alpha val="35000"/>
              </a:srgbClr>
            </a:outerShdw>
          </a:effectLst>
        </p:spPr>
      </p:sp>
      <p:sp>
        <p:nvSpPr>
          <p:cNvPr id="7" name="Shape 5"/>
          <p:cNvSpPr/>
          <p:nvPr/>
        </p:nvSpPr>
        <p:spPr>
          <a:xfrm>
            <a:off x="822960" y="3154680"/>
            <a:ext cx="566928" cy="566928"/>
          </a:xfrm>
          <a:prstGeom prst="ellipse">
            <a:avLst/>
          </a:prstGeom>
          <a:solidFill>
            <a:srgbClr val="2DD4BF">
              <a:alpha val="18000"/>
            </a:srgbClr>
          </a:solidFill>
          <a:ln w="12700">
            <a:solidFill>
              <a:srgbClr val="2DD4BF">
                <a:alpha val="45000"/>
              </a:srgbClr>
            </a:solidFill>
            <a:prstDash val="solid"/>
          </a:ln>
        </p:spPr>
      </p:sp>
      <p:pic>
        <p:nvPicPr>
          <p:cNvPr id="8" name="Image 0" descr="preencoded.png">    </p:cNvPr>
          <p:cNvPicPr>
            <a:picLocks noChangeAspect="1"/>
          </p:cNvPicPr>
          <p:nvPr/>
        </p:nvPicPr>
        <p:blipFill>
          <a:blip r:embed="rId1"/>
          <a:stretch>
            <a:fillRect/>
          </a:stretch>
        </p:blipFill>
        <p:spPr>
          <a:xfrm>
            <a:off x="959023" y="3290743"/>
            <a:ext cx="294803" cy="294803"/>
          </a:xfrm>
          <a:prstGeom prst="rect">
            <a:avLst/>
          </a:prstGeom>
        </p:spPr>
      </p:pic>
      <p:sp>
        <p:nvSpPr>
          <p:cNvPr id="9" name="Text 6"/>
          <p:cNvSpPr txBox="1"/>
          <p:nvPr/>
        </p:nvSpPr>
        <p:spPr>
          <a:xfrm>
            <a:off x="1847088" y="3200400"/>
            <a:ext cx="457200" cy="365760"/>
          </a:xfrm>
          <a:prstGeom prst="rect">
            <a:avLst/>
          </a:prstGeom>
          <a:noFill/>
          <a:ln/>
        </p:spPr>
        <p:txBody>
          <a:bodyPr wrap="square" lIns="0" tIns="0" rIns="0" bIns="0" rtlCol="0" anchor="ctr"/>
          <a:lstStyle/>
          <a:p>
            <a:pPr algn="r" indent="0" marL="0">
              <a:buNone/>
            </a:pPr>
            <a:r>
              <a:rPr lang="en-US" sz="1400" b="1" dirty="0">
                <a:solidFill>
                  <a:srgbClr val="94A3B8"/>
                </a:solidFill>
                <a:latin typeface="Calibri" pitchFamily="34" charset="0"/>
                <a:ea typeface="Calibri" pitchFamily="34" charset="-122"/>
                <a:cs typeface="Calibri" pitchFamily="34" charset="-120"/>
              </a:rPr>
              <a:t>01</a:t>
            </a:r>
            <a:endParaRPr lang="en-US" sz="1400" dirty="0"/>
          </a:p>
        </p:txBody>
      </p:sp>
      <p:sp>
        <p:nvSpPr>
          <p:cNvPr id="10" name="Text 7"/>
          <p:cNvSpPr txBox="1"/>
          <p:nvPr/>
        </p:nvSpPr>
        <p:spPr>
          <a:xfrm>
            <a:off x="822960" y="3886200"/>
            <a:ext cx="1572768" cy="457200"/>
          </a:xfrm>
          <a:prstGeom prst="rect">
            <a:avLst/>
          </a:prstGeom>
          <a:noFill/>
          <a:ln/>
        </p:spPr>
        <p:txBody>
          <a:bodyPr wrap="square" lIns="0" tIns="0" rIns="0" bIns="0" rtlCol="0" anchor="t"/>
          <a:lstStyle/>
          <a:p>
            <a:pPr indent="0" marL="0">
              <a:buNone/>
            </a:pPr>
            <a:r>
              <a:rPr lang="en-US" sz="2000" b="1" dirty="0">
                <a:solidFill>
                  <a:srgbClr val="E7ECF5"/>
                </a:solidFill>
                <a:latin typeface="Calibri" pitchFamily="34" charset="0"/>
                <a:ea typeface="Calibri" pitchFamily="34" charset="-122"/>
                <a:cs typeface="Calibri" pitchFamily="34" charset="-120"/>
              </a:rPr>
              <a:t>Plan</a:t>
            </a:r>
            <a:endParaRPr lang="en-US" sz="2000" dirty="0"/>
          </a:p>
        </p:txBody>
      </p:sp>
      <p:sp>
        <p:nvSpPr>
          <p:cNvPr id="11" name="Text 8"/>
          <p:cNvSpPr txBox="1"/>
          <p:nvPr/>
        </p:nvSpPr>
        <p:spPr>
          <a:xfrm>
            <a:off x="822960" y="4434840"/>
            <a:ext cx="1572768" cy="1097280"/>
          </a:xfrm>
          <a:prstGeom prst="rect">
            <a:avLst/>
          </a:prstGeom>
          <a:noFill/>
          <a:ln/>
        </p:spPr>
        <p:txBody>
          <a:bodyPr wrap="square" lIns="0" tIns="0" rIns="0" bIns="0" rtlCol="0" anchor="t"/>
          <a:lstStyle/>
          <a:p>
            <a:pPr indent="0" marL="0">
              <a:buNone/>
            </a:pPr>
            <a:r>
              <a:rPr lang="en-US" sz="1300" dirty="0">
                <a:solidFill>
                  <a:srgbClr val="94A3B8"/>
                </a:solidFill>
                <a:latin typeface="Calibri" pitchFamily="34" charset="0"/>
                <a:ea typeface="Calibri" pitchFamily="34" charset="-122"/>
                <a:cs typeface="Calibri" pitchFamily="34" charset="-120"/>
              </a:rPr>
              <a:t>AI designs fields, types, filters, region and queries. Fully editable.</a:t>
            </a:r>
            <a:endParaRPr lang="en-US" sz="1300" dirty="0"/>
          </a:p>
        </p:txBody>
      </p:sp>
      <p:sp>
        <p:nvSpPr>
          <p:cNvPr id="12" name="Shape 9"/>
          <p:cNvSpPr/>
          <p:nvPr/>
        </p:nvSpPr>
        <p:spPr>
          <a:xfrm>
            <a:off x="2606040" y="4160520"/>
            <a:ext cx="173736" cy="201168"/>
          </a:xfrm>
          <a:prstGeom prst="rightArrow">
            <a:avLst/>
          </a:prstGeom>
          <a:solidFill>
            <a:srgbClr val="2DD4BF"/>
          </a:solidFill>
          <a:ln w="12700">
            <a:solidFill>
              <a:srgbClr val="2DD4BF"/>
            </a:solidFill>
            <a:prstDash val="solid"/>
          </a:ln>
        </p:spPr>
      </p:sp>
      <p:sp>
        <p:nvSpPr>
          <p:cNvPr id="13" name="Shape 10"/>
          <p:cNvSpPr/>
          <p:nvPr/>
        </p:nvSpPr>
        <p:spPr>
          <a:xfrm>
            <a:off x="2807208" y="2880360"/>
            <a:ext cx="2029968" cy="2743200"/>
          </a:xfrm>
          <a:prstGeom prst="roundRect">
            <a:avLst>
              <a:gd name="adj" fmla="val 5405"/>
            </a:avLst>
          </a:prstGeom>
          <a:solidFill>
            <a:srgbClr val="0F1728"/>
          </a:solidFill>
          <a:ln w="12700">
            <a:solidFill>
              <a:srgbClr val="243352"/>
            </a:solidFill>
            <a:prstDash val="solid"/>
          </a:ln>
          <a:effectLst>
            <a:outerShdw sx="100000" sy="100000" kx="0" ky="0" algn="bl" rotWithShape="0" blurRad="101600" dist="25400" dir="5400000">
              <a:srgbClr val="000000">
                <a:alpha val="35000"/>
              </a:srgbClr>
            </a:outerShdw>
          </a:effectLst>
        </p:spPr>
      </p:sp>
      <p:sp>
        <p:nvSpPr>
          <p:cNvPr id="14" name="Shape 11"/>
          <p:cNvSpPr/>
          <p:nvPr/>
        </p:nvSpPr>
        <p:spPr>
          <a:xfrm>
            <a:off x="3081528" y="3154680"/>
            <a:ext cx="566928" cy="566928"/>
          </a:xfrm>
          <a:prstGeom prst="ellipse">
            <a:avLst/>
          </a:prstGeom>
          <a:solidFill>
            <a:srgbClr val="2DD4BF">
              <a:alpha val="18000"/>
            </a:srgbClr>
          </a:solidFill>
          <a:ln w="12700">
            <a:solidFill>
              <a:srgbClr val="2DD4BF">
                <a:alpha val="45000"/>
              </a:srgbClr>
            </a:solidFill>
            <a:prstDash val="solid"/>
          </a:ln>
        </p:spPr>
      </p:sp>
      <p:pic>
        <p:nvPicPr>
          <p:cNvPr id="15" name="Image 1" descr="preencoded.png">    </p:cNvPr>
          <p:cNvPicPr>
            <a:picLocks noChangeAspect="1"/>
          </p:cNvPicPr>
          <p:nvPr/>
        </p:nvPicPr>
        <p:blipFill>
          <a:blip r:embed="rId2"/>
          <a:stretch>
            <a:fillRect/>
          </a:stretch>
        </p:blipFill>
        <p:spPr>
          <a:xfrm>
            <a:off x="3217591" y="3290743"/>
            <a:ext cx="294803" cy="294803"/>
          </a:xfrm>
          <a:prstGeom prst="rect">
            <a:avLst/>
          </a:prstGeom>
        </p:spPr>
      </p:pic>
      <p:sp>
        <p:nvSpPr>
          <p:cNvPr id="16" name="Text 12"/>
          <p:cNvSpPr txBox="1"/>
          <p:nvPr/>
        </p:nvSpPr>
        <p:spPr>
          <a:xfrm>
            <a:off x="4105656" y="3200400"/>
            <a:ext cx="457200" cy="365760"/>
          </a:xfrm>
          <a:prstGeom prst="rect">
            <a:avLst/>
          </a:prstGeom>
          <a:noFill/>
          <a:ln/>
        </p:spPr>
        <p:txBody>
          <a:bodyPr wrap="square" lIns="0" tIns="0" rIns="0" bIns="0" rtlCol="0" anchor="ctr"/>
          <a:lstStyle/>
          <a:p>
            <a:pPr algn="r" indent="0" marL="0">
              <a:buNone/>
            </a:pPr>
            <a:r>
              <a:rPr lang="en-US" sz="1400" b="1" dirty="0">
                <a:solidFill>
                  <a:srgbClr val="94A3B8"/>
                </a:solidFill>
                <a:latin typeface="Calibri" pitchFamily="34" charset="0"/>
                <a:ea typeface="Calibri" pitchFamily="34" charset="-122"/>
                <a:cs typeface="Calibri" pitchFamily="34" charset="-120"/>
              </a:rPr>
              <a:t>02</a:t>
            </a:r>
            <a:endParaRPr lang="en-US" sz="1400" dirty="0"/>
          </a:p>
        </p:txBody>
      </p:sp>
      <p:sp>
        <p:nvSpPr>
          <p:cNvPr id="17" name="Text 13"/>
          <p:cNvSpPr txBox="1"/>
          <p:nvPr/>
        </p:nvSpPr>
        <p:spPr>
          <a:xfrm>
            <a:off x="3081528" y="3886200"/>
            <a:ext cx="1572768" cy="457200"/>
          </a:xfrm>
          <a:prstGeom prst="rect">
            <a:avLst/>
          </a:prstGeom>
          <a:noFill/>
          <a:ln/>
        </p:spPr>
        <p:txBody>
          <a:bodyPr wrap="square" lIns="0" tIns="0" rIns="0" bIns="0" rtlCol="0" anchor="t"/>
          <a:lstStyle/>
          <a:p>
            <a:pPr indent="0" marL="0">
              <a:buNone/>
            </a:pPr>
            <a:r>
              <a:rPr lang="en-US" sz="2000" b="1" dirty="0">
                <a:solidFill>
                  <a:srgbClr val="E7ECF5"/>
                </a:solidFill>
                <a:latin typeface="Calibri" pitchFamily="34" charset="0"/>
                <a:ea typeface="Calibri" pitchFamily="34" charset="-122"/>
                <a:cs typeface="Calibri" pitchFamily="34" charset="-120"/>
              </a:rPr>
              <a:t>Collect</a:t>
            </a:r>
            <a:endParaRPr lang="en-US" sz="2000" dirty="0"/>
          </a:p>
        </p:txBody>
      </p:sp>
      <p:sp>
        <p:nvSpPr>
          <p:cNvPr id="18" name="Text 14"/>
          <p:cNvSpPr txBox="1"/>
          <p:nvPr/>
        </p:nvSpPr>
        <p:spPr>
          <a:xfrm>
            <a:off x="3081528" y="4434840"/>
            <a:ext cx="1572768" cy="1097280"/>
          </a:xfrm>
          <a:prstGeom prst="rect">
            <a:avLst/>
          </a:prstGeom>
          <a:noFill/>
          <a:ln/>
        </p:spPr>
        <p:txBody>
          <a:bodyPr wrap="square" lIns="0" tIns="0" rIns="0" bIns="0" rtlCol="0" anchor="t"/>
          <a:lstStyle/>
          <a:p>
            <a:pPr indent="0" marL="0">
              <a:buNone/>
            </a:pPr>
            <a:r>
              <a:rPr lang="en-US" sz="1300" dirty="0">
                <a:solidFill>
                  <a:srgbClr val="94A3B8"/>
                </a:solidFill>
                <a:latin typeface="Calibri" pitchFamily="34" charset="0"/>
                <a:ea typeface="Calibri" pitchFamily="34" charset="-122"/>
                <a:cs typeface="Calibri" pitchFamily="34" charset="-120"/>
              </a:rPr>
              <a:t>Searches the web, checks robots.txt, reads only permitted pages.</a:t>
            </a:r>
            <a:endParaRPr lang="en-US" sz="1300" dirty="0"/>
          </a:p>
        </p:txBody>
      </p:sp>
      <p:sp>
        <p:nvSpPr>
          <p:cNvPr id="19" name="Shape 15"/>
          <p:cNvSpPr/>
          <p:nvPr/>
        </p:nvSpPr>
        <p:spPr>
          <a:xfrm>
            <a:off x="4864608" y="4160520"/>
            <a:ext cx="173736" cy="201168"/>
          </a:xfrm>
          <a:prstGeom prst="rightArrow">
            <a:avLst/>
          </a:prstGeom>
          <a:solidFill>
            <a:srgbClr val="2DD4BF"/>
          </a:solidFill>
          <a:ln w="12700">
            <a:solidFill>
              <a:srgbClr val="2DD4BF"/>
            </a:solidFill>
            <a:prstDash val="solid"/>
          </a:ln>
        </p:spPr>
      </p:sp>
      <p:sp>
        <p:nvSpPr>
          <p:cNvPr id="20" name="Shape 16"/>
          <p:cNvSpPr/>
          <p:nvPr/>
        </p:nvSpPr>
        <p:spPr>
          <a:xfrm>
            <a:off x="5065776" y="2880360"/>
            <a:ext cx="2029968" cy="2743200"/>
          </a:xfrm>
          <a:prstGeom prst="roundRect">
            <a:avLst>
              <a:gd name="adj" fmla="val 5405"/>
            </a:avLst>
          </a:prstGeom>
          <a:solidFill>
            <a:srgbClr val="0F1728"/>
          </a:solidFill>
          <a:ln w="12700">
            <a:solidFill>
              <a:srgbClr val="243352"/>
            </a:solidFill>
            <a:prstDash val="solid"/>
          </a:ln>
          <a:effectLst>
            <a:outerShdw sx="100000" sy="100000" kx="0" ky="0" algn="bl" rotWithShape="0" blurRad="101600" dist="25400" dir="5400000">
              <a:srgbClr val="000000">
                <a:alpha val="35000"/>
              </a:srgbClr>
            </a:outerShdw>
          </a:effectLst>
        </p:spPr>
      </p:sp>
      <p:sp>
        <p:nvSpPr>
          <p:cNvPr id="21" name="Shape 17"/>
          <p:cNvSpPr/>
          <p:nvPr/>
        </p:nvSpPr>
        <p:spPr>
          <a:xfrm>
            <a:off x="5340096" y="3154680"/>
            <a:ext cx="566928" cy="566928"/>
          </a:xfrm>
          <a:prstGeom prst="ellipse">
            <a:avLst/>
          </a:prstGeom>
          <a:solidFill>
            <a:srgbClr val="2DD4BF">
              <a:alpha val="18000"/>
            </a:srgbClr>
          </a:solidFill>
          <a:ln w="12700">
            <a:solidFill>
              <a:srgbClr val="2DD4BF">
                <a:alpha val="45000"/>
              </a:srgbClr>
            </a:solidFill>
            <a:prstDash val="solid"/>
          </a:ln>
        </p:spPr>
      </p:sp>
      <p:pic>
        <p:nvPicPr>
          <p:cNvPr id="22" name="Image 2" descr="preencoded.png">    </p:cNvPr>
          <p:cNvPicPr>
            <a:picLocks noChangeAspect="1"/>
          </p:cNvPicPr>
          <p:nvPr/>
        </p:nvPicPr>
        <p:blipFill>
          <a:blip r:embed="rId3"/>
          <a:stretch>
            <a:fillRect/>
          </a:stretch>
        </p:blipFill>
        <p:spPr>
          <a:xfrm>
            <a:off x="5476159" y="3290743"/>
            <a:ext cx="294803" cy="294803"/>
          </a:xfrm>
          <a:prstGeom prst="rect">
            <a:avLst/>
          </a:prstGeom>
        </p:spPr>
      </p:pic>
      <p:sp>
        <p:nvSpPr>
          <p:cNvPr id="23" name="Text 18"/>
          <p:cNvSpPr txBox="1"/>
          <p:nvPr/>
        </p:nvSpPr>
        <p:spPr>
          <a:xfrm>
            <a:off x="6364224" y="3200400"/>
            <a:ext cx="457200" cy="365760"/>
          </a:xfrm>
          <a:prstGeom prst="rect">
            <a:avLst/>
          </a:prstGeom>
          <a:noFill/>
          <a:ln/>
        </p:spPr>
        <p:txBody>
          <a:bodyPr wrap="square" lIns="0" tIns="0" rIns="0" bIns="0" rtlCol="0" anchor="ctr"/>
          <a:lstStyle/>
          <a:p>
            <a:pPr algn="r" indent="0" marL="0">
              <a:buNone/>
            </a:pPr>
            <a:r>
              <a:rPr lang="en-US" sz="1400" b="1" dirty="0">
                <a:solidFill>
                  <a:srgbClr val="94A3B8"/>
                </a:solidFill>
                <a:latin typeface="Calibri" pitchFamily="34" charset="0"/>
                <a:ea typeface="Calibri" pitchFamily="34" charset="-122"/>
                <a:cs typeface="Calibri" pitchFamily="34" charset="-120"/>
              </a:rPr>
              <a:t>03</a:t>
            </a:r>
            <a:endParaRPr lang="en-US" sz="1400" dirty="0"/>
          </a:p>
        </p:txBody>
      </p:sp>
      <p:sp>
        <p:nvSpPr>
          <p:cNvPr id="24" name="Text 19"/>
          <p:cNvSpPr txBox="1"/>
          <p:nvPr/>
        </p:nvSpPr>
        <p:spPr>
          <a:xfrm>
            <a:off x="5340096" y="3886200"/>
            <a:ext cx="1572768" cy="457200"/>
          </a:xfrm>
          <a:prstGeom prst="rect">
            <a:avLst/>
          </a:prstGeom>
          <a:noFill/>
          <a:ln/>
        </p:spPr>
        <p:txBody>
          <a:bodyPr wrap="square" lIns="0" tIns="0" rIns="0" bIns="0" rtlCol="0" anchor="t"/>
          <a:lstStyle/>
          <a:p>
            <a:pPr indent="0" marL="0">
              <a:buNone/>
            </a:pPr>
            <a:r>
              <a:rPr lang="en-US" sz="2000" b="1" dirty="0">
                <a:solidFill>
                  <a:srgbClr val="E7ECF5"/>
                </a:solidFill>
                <a:latin typeface="Calibri" pitchFamily="34" charset="0"/>
                <a:ea typeface="Calibri" pitchFamily="34" charset="-122"/>
                <a:cs typeface="Calibri" pitchFamily="34" charset="-120"/>
              </a:rPr>
              <a:t>Prove</a:t>
            </a:r>
            <a:endParaRPr lang="en-US" sz="2000" dirty="0"/>
          </a:p>
        </p:txBody>
      </p:sp>
      <p:sp>
        <p:nvSpPr>
          <p:cNvPr id="25" name="Text 20"/>
          <p:cNvSpPr txBox="1"/>
          <p:nvPr/>
        </p:nvSpPr>
        <p:spPr>
          <a:xfrm>
            <a:off x="5340096" y="4434840"/>
            <a:ext cx="1572768" cy="1097280"/>
          </a:xfrm>
          <a:prstGeom prst="rect">
            <a:avLst/>
          </a:prstGeom>
          <a:noFill/>
          <a:ln/>
        </p:spPr>
        <p:txBody>
          <a:bodyPr wrap="square" lIns="0" tIns="0" rIns="0" bIns="0" rtlCol="0" anchor="t"/>
          <a:lstStyle/>
          <a:p>
            <a:pPr indent="0" marL="0">
              <a:buNone/>
            </a:pPr>
            <a:r>
              <a:rPr lang="en-US" sz="1300" dirty="0">
                <a:solidFill>
                  <a:srgbClr val="94A3B8"/>
                </a:solidFill>
                <a:latin typeface="Calibri" pitchFamily="34" charset="0"/>
                <a:ea typeface="Calibri" pitchFamily="34" charset="-122"/>
                <a:cs typeface="Calibri" pitchFamily="34" charset="-120"/>
              </a:rPr>
              <a:t>Every value needs a verbatim quote from its page — or it's dropped.</a:t>
            </a:r>
            <a:endParaRPr lang="en-US" sz="1300" dirty="0"/>
          </a:p>
        </p:txBody>
      </p:sp>
      <p:sp>
        <p:nvSpPr>
          <p:cNvPr id="26" name="Shape 21"/>
          <p:cNvSpPr/>
          <p:nvPr/>
        </p:nvSpPr>
        <p:spPr>
          <a:xfrm>
            <a:off x="7123176" y="4160520"/>
            <a:ext cx="173736" cy="201168"/>
          </a:xfrm>
          <a:prstGeom prst="rightArrow">
            <a:avLst/>
          </a:prstGeom>
          <a:solidFill>
            <a:srgbClr val="2DD4BF"/>
          </a:solidFill>
          <a:ln w="12700">
            <a:solidFill>
              <a:srgbClr val="2DD4BF"/>
            </a:solidFill>
            <a:prstDash val="solid"/>
          </a:ln>
        </p:spPr>
      </p:sp>
      <p:sp>
        <p:nvSpPr>
          <p:cNvPr id="27" name="Shape 22"/>
          <p:cNvSpPr/>
          <p:nvPr/>
        </p:nvSpPr>
        <p:spPr>
          <a:xfrm>
            <a:off x="7324344" y="2880360"/>
            <a:ext cx="2029968" cy="2743200"/>
          </a:xfrm>
          <a:prstGeom prst="roundRect">
            <a:avLst>
              <a:gd name="adj" fmla="val 5405"/>
            </a:avLst>
          </a:prstGeom>
          <a:solidFill>
            <a:srgbClr val="0F1728"/>
          </a:solidFill>
          <a:ln w="12700">
            <a:solidFill>
              <a:srgbClr val="243352"/>
            </a:solidFill>
            <a:prstDash val="solid"/>
          </a:ln>
          <a:effectLst>
            <a:outerShdw sx="100000" sy="100000" kx="0" ky="0" algn="bl" rotWithShape="0" blurRad="101600" dist="25400" dir="5400000">
              <a:srgbClr val="000000">
                <a:alpha val="35000"/>
              </a:srgbClr>
            </a:outerShdw>
          </a:effectLst>
        </p:spPr>
      </p:sp>
      <p:sp>
        <p:nvSpPr>
          <p:cNvPr id="28" name="Shape 23"/>
          <p:cNvSpPr/>
          <p:nvPr/>
        </p:nvSpPr>
        <p:spPr>
          <a:xfrm>
            <a:off x="7598664" y="3154680"/>
            <a:ext cx="566928" cy="566928"/>
          </a:xfrm>
          <a:prstGeom prst="ellipse">
            <a:avLst/>
          </a:prstGeom>
          <a:solidFill>
            <a:srgbClr val="2DD4BF">
              <a:alpha val="18000"/>
            </a:srgbClr>
          </a:solidFill>
          <a:ln w="12700">
            <a:solidFill>
              <a:srgbClr val="2DD4BF">
                <a:alpha val="45000"/>
              </a:srgbClr>
            </a:solidFill>
            <a:prstDash val="solid"/>
          </a:ln>
        </p:spPr>
      </p:sp>
      <p:pic>
        <p:nvPicPr>
          <p:cNvPr id="29" name="Image 3" descr="preencoded.png">    </p:cNvPr>
          <p:cNvPicPr>
            <a:picLocks noChangeAspect="1"/>
          </p:cNvPicPr>
          <p:nvPr/>
        </p:nvPicPr>
        <p:blipFill>
          <a:blip r:embed="rId4"/>
          <a:stretch>
            <a:fillRect/>
          </a:stretch>
        </p:blipFill>
        <p:spPr>
          <a:xfrm>
            <a:off x="7734727" y="3290743"/>
            <a:ext cx="294803" cy="294803"/>
          </a:xfrm>
          <a:prstGeom prst="rect">
            <a:avLst/>
          </a:prstGeom>
        </p:spPr>
      </p:pic>
      <p:sp>
        <p:nvSpPr>
          <p:cNvPr id="30" name="Text 24"/>
          <p:cNvSpPr txBox="1"/>
          <p:nvPr/>
        </p:nvSpPr>
        <p:spPr>
          <a:xfrm>
            <a:off x="8622792" y="3200400"/>
            <a:ext cx="457200" cy="365760"/>
          </a:xfrm>
          <a:prstGeom prst="rect">
            <a:avLst/>
          </a:prstGeom>
          <a:noFill/>
          <a:ln/>
        </p:spPr>
        <p:txBody>
          <a:bodyPr wrap="square" lIns="0" tIns="0" rIns="0" bIns="0" rtlCol="0" anchor="ctr"/>
          <a:lstStyle/>
          <a:p>
            <a:pPr algn="r" indent="0" marL="0">
              <a:buNone/>
            </a:pPr>
            <a:r>
              <a:rPr lang="en-US" sz="1400" b="1" dirty="0">
                <a:solidFill>
                  <a:srgbClr val="94A3B8"/>
                </a:solidFill>
                <a:latin typeface="Calibri" pitchFamily="34" charset="0"/>
                <a:ea typeface="Calibri" pitchFamily="34" charset="-122"/>
                <a:cs typeface="Calibri" pitchFamily="34" charset="-120"/>
              </a:rPr>
              <a:t>04</a:t>
            </a:r>
            <a:endParaRPr lang="en-US" sz="1400" dirty="0"/>
          </a:p>
        </p:txBody>
      </p:sp>
      <p:sp>
        <p:nvSpPr>
          <p:cNvPr id="31" name="Text 25"/>
          <p:cNvSpPr txBox="1"/>
          <p:nvPr/>
        </p:nvSpPr>
        <p:spPr>
          <a:xfrm>
            <a:off x="7598664" y="3886200"/>
            <a:ext cx="1572768" cy="457200"/>
          </a:xfrm>
          <a:prstGeom prst="rect">
            <a:avLst/>
          </a:prstGeom>
          <a:noFill/>
          <a:ln/>
        </p:spPr>
        <p:txBody>
          <a:bodyPr wrap="square" lIns="0" tIns="0" rIns="0" bIns="0" rtlCol="0" anchor="t"/>
          <a:lstStyle/>
          <a:p>
            <a:pPr indent="0" marL="0">
              <a:buNone/>
            </a:pPr>
            <a:r>
              <a:rPr lang="en-US" sz="2000" b="1" dirty="0">
                <a:solidFill>
                  <a:srgbClr val="E7ECF5"/>
                </a:solidFill>
                <a:latin typeface="Calibri" pitchFamily="34" charset="0"/>
                <a:ea typeface="Calibri" pitchFamily="34" charset="-122"/>
                <a:cs typeface="Calibri" pitchFamily="34" charset="-120"/>
              </a:rPr>
              <a:t>Verify</a:t>
            </a:r>
            <a:endParaRPr lang="en-US" sz="2000" dirty="0"/>
          </a:p>
        </p:txBody>
      </p:sp>
      <p:sp>
        <p:nvSpPr>
          <p:cNvPr id="32" name="Text 26"/>
          <p:cNvSpPr txBox="1"/>
          <p:nvPr/>
        </p:nvSpPr>
        <p:spPr>
          <a:xfrm>
            <a:off x="7598664" y="4434840"/>
            <a:ext cx="1572768" cy="1097280"/>
          </a:xfrm>
          <a:prstGeom prst="rect">
            <a:avLst/>
          </a:prstGeom>
          <a:noFill/>
          <a:ln/>
        </p:spPr>
        <p:txBody>
          <a:bodyPr wrap="square" lIns="0" tIns="0" rIns="0" bIns="0" rtlCol="0" anchor="t"/>
          <a:lstStyle/>
          <a:p>
            <a:pPr indent="0" marL="0">
              <a:buNone/>
            </a:pPr>
            <a:r>
              <a:rPr lang="en-US" sz="1300" dirty="0">
                <a:solidFill>
                  <a:srgbClr val="94A3B8"/>
                </a:solidFill>
                <a:latin typeface="Calibri" pitchFamily="34" charset="0"/>
                <a:ea typeface="Calibri" pitchFamily="34" charset="-122"/>
                <a:cs typeface="Calibri" pitchFamily="34" charset="-120"/>
              </a:rPr>
              <a:t>Merges duplicates, cross-checks fields across independent sites.</a:t>
            </a:r>
            <a:endParaRPr lang="en-US" sz="1300" dirty="0"/>
          </a:p>
        </p:txBody>
      </p:sp>
      <p:sp>
        <p:nvSpPr>
          <p:cNvPr id="33" name="Shape 27"/>
          <p:cNvSpPr/>
          <p:nvPr/>
        </p:nvSpPr>
        <p:spPr>
          <a:xfrm>
            <a:off x="9381744" y="4160520"/>
            <a:ext cx="173736" cy="201168"/>
          </a:xfrm>
          <a:prstGeom prst="rightArrow">
            <a:avLst/>
          </a:prstGeom>
          <a:solidFill>
            <a:srgbClr val="2DD4BF"/>
          </a:solidFill>
          <a:ln w="12700">
            <a:solidFill>
              <a:srgbClr val="2DD4BF"/>
            </a:solidFill>
            <a:prstDash val="solid"/>
          </a:ln>
        </p:spPr>
      </p:sp>
      <p:sp>
        <p:nvSpPr>
          <p:cNvPr id="34" name="Shape 28"/>
          <p:cNvSpPr/>
          <p:nvPr/>
        </p:nvSpPr>
        <p:spPr>
          <a:xfrm>
            <a:off x="9582912" y="2880360"/>
            <a:ext cx="2029968" cy="2743200"/>
          </a:xfrm>
          <a:prstGeom prst="roundRect">
            <a:avLst>
              <a:gd name="adj" fmla="val 5405"/>
            </a:avLst>
          </a:prstGeom>
          <a:solidFill>
            <a:srgbClr val="0F1728"/>
          </a:solidFill>
          <a:ln w="12700">
            <a:solidFill>
              <a:srgbClr val="243352"/>
            </a:solidFill>
            <a:prstDash val="solid"/>
          </a:ln>
          <a:effectLst>
            <a:outerShdw sx="100000" sy="100000" kx="0" ky="0" algn="bl" rotWithShape="0" blurRad="101600" dist="25400" dir="5400000">
              <a:srgbClr val="000000">
                <a:alpha val="35000"/>
              </a:srgbClr>
            </a:outerShdw>
          </a:effectLst>
        </p:spPr>
      </p:sp>
      <p:sp>
        <p:nvSpPr>
          <p:cNvPr id="35" name="Shape 29"/>
          <p:cNvSpPr/>
          <p:nvPr/>
        </p:nvSpPr>
        <p:spPr>
          <a:xfrm>
            <a:off x="9857232" y="3154680"/>
            <a:ext cx="566928" cy="566928"/>
          </a:xfrm>
          <a:prstGeom prst="ellipse">
            <a:avLst/>
          </a:prstGeom>
          <a:solidFill>
            <a:srgbClr val="2DD4BF">
              <a:alpha val="18000"/>
            </a:srgbClr>
          </a:solidFill>
          <a:ln w="12700">
            <a:solidFill>
              <a:srgbClr val="2DD4BF">
                <a:alpha val="45000"/>
              </a:srgbClr>
            </a:solidFill>
            <a:prstDash val="solid"/>
          </a:ln>
        </p:spPr>
      </p:sp>
      <p:pic>
        <p:nvPicPr>
          <p:cNvPr id="36" name="Image 4" descr="preencoded.png">    </p:cNvPr>
          <p:cNvPicPr>
            <a:picLocks noChangeAspect="1"/>
          </p:cNvPicPr>
          <p:nvPr/>
        </p:nvPicPr>
        <p:blipFill>
          <a:blip r:embed="rId5"/>
          <a:stretch>
            <a:fillRect/>
          </a:stretch>
        </p:blipFill>
        <p:spPr>
          <a:xfrm>
            <a:off x="9993295" y="3290743"/>
            <a:ext cx="294803" cy="294803"/>
          </a:xfrm>
          <a:prstGeom prst="rect">
            <a:avLst/>
          </a:prstGeom>
        </p:spPr>
      </p:pic>
      <p:sp>
        <p:nvSpPr>
          <p:cNvPr id="37" name="Text 30"/>
          <p:cNvSpPr txBox="1"/>
          <p:nvPr/>
        </p:nvSpPr>
        <p:spPr>
          <a:xfrm>
            <a:off x="10881360" y="3200400"/>
            <a:ext cx="457200" cy="365760"/>
          </a:xfrm>
          <a:prstGeom prst="rect">
            <a:avLst/>
          </a:prstGeom>
          <a:noFill/>
          <a:ln/>
        </p:spPr>
        <p:txBody>
          <a:bodyPr wrap="square" lIns="0" tIns="0" rIns="0" bIns="0" rtlCol="0" anchor="ctr"/>
          <a:lstStyle/>
          <a:p>
            <a:pPr algn="r" indent="0" marL="0">
              <a:buNone/>
            </a:pPr>
            <a:r>
              <a:rPr lang="en-US" sz="1400" b="1" dirty="0">
                <a:solidFill>
                  <a:srgbClr val="94A3B8"/>
                </a:solidFill>
                <a:latin typeface="Calibri" pitchFamily="34" charset="0"/>
                <a:ea typeface="Calibri" pitchFamily="34" charset="-122"/>
                <a:cs typeface="Calibri" pitchFamily="34" charset="-120"/>
              </a:rPr>
              <a:t>05</a:t>
            </a:r>
            <a:endParaRPr lang="en-US" sz="1400" dirty="0"/>
          </a:p>
        </p:txBody>
      </p:sp>
      <p:sp>
        <p:nvSpPr>
          <p:cNvPr id="38" name="Text 31"/>
          <p:cNvSpPr txBox="1"/>
          <p:nvPr/>
        </p:nvSpPr>
        <p:spPr>
          <a:xfrm>
            <a:off x="9857232" y="3886200"/>
            <a:ext cx="1572768" cy="457200"/>
          </a:xfrm>
          <a:prstGeom prst="rect">
            <a:avLst/>
          </a:prstGeom>
          <a:noFill/>
          <a:ln/>
        </p:spPr>
        <p:txBody>
          <a:bodyPr wrap="square" lIns="0" tIns="0" rIns="0" bIns="0" rtlCol="0" anchor="t"/>
          <a:lstStyle/>
          <a:p>
            <a:pPr indent="0" marL="0">
              <a:buNone/>
            </a:pPr>
            <a:r>
              <a:rPr lang="en-US" sz="2000" b="1" dirty="0">
                <a:solidFill>
                  <a:srgbClr val="E7ECF5"/>
                </a:solidFill>
                <a:latin typeface="Calibri" pitchFamily="34" charset="0"/>
                <a:ea typeface="Calibri" pitchFamily="34" charset="-122"/>
                <a:cs typeface="Calibri" pitchFamily="34" charset="-120"/>
              </a:rPr>
              <a:t>Deliver</a:t>
            </a:r>
            <a:endParaRPr lang="en-US" sz="2000" dirty="0"/>
          </a:p>
        </p:txBody>
      </p:sp>
      <p:sp>
        <p:nvSpPr>
          <p:cNvPr id="39" name="Text 32"/>
          <p:cNvSpPr txBox="1"/>
          <p:nvPr/>
        </p:nvSpPr>
        <p:spPr>
          <a:xfrm>
            <a:off x="9857232" y="4434840"/>
            <a:ext cx="1572768" cy="1097280"/>
          </a:xfrm>
          <a:prstGeom prst="rect">
            <a:avLst/>
          </a:prstGeom>
          <a:noFill/>
          <a:ln/>
        </p:spPr>
        <p:txBody>
          <a:bodyPr wrap="square" lIns="0" tIns="0" rIns="0" bIns="0" rtlCol="0" anchor="t"/>
          <a:lstStyle/>
          <a:p>
            <a:pPr indent="0" marL="0">
              <a:buNone/>
            </a:pPr>
            <a:r>
              <a:rPr lang="en-US" sz="1300" dirty="0">
                <a:solidFill>
                  <a:srgbClr val="94A3B8"/>
                </a:solidFill>
                <a:latin typeface="Calibri" pitchFamily="34" charset="0"/>
                <a:ea typeface="Calibri" pitchFamily="34" charset="-122"/>
                <a:cs typeface="Calibri" pitchFamily="34" charset="-120"/>
              </a:rPr>
              <a:t>Live dataset with evidence, insights, history and export.</a:t>
            </a:r>
            <a:endParaRPr lang="en-US" sz="1300" dirty="0"/>
          </a:p>
        </p:txBody>
      </p:sp>
      <p:sp>
        <p:nvSpPr>
          <p:cNvPr id="40" name="Text 33"/>
          <p:cNvSpPr txBox="1"/>
          <p:nvPr/>
        </p:nvSpPr>
        <p:spPr>
          <a:xfrm>
            <a:off x="548640" y="5897880"/>
            <a:ext cx="11064240" cy="411480"/>
          </a:xfrm>
          <a:prstGeom prst="rect">
            <a:avLst/>
          </a:prstGeom>
          <a:noFill/>
          <a:ln/>
        </p:spPr>
        <p:txBody>
          <a:bodyPr wrap="square" lIns="0" tIns="0" rIns="0" bIns="0" rtlCol="0" anchor="ctr"/>
          <a:lstStyle/>
          <a:p>
            <a:pPr indent="0" marL="0">
              <a:buNone/>
            </a:pPr>
            <a:r>
              <a:rPr lang="en-US" sz="1400" i="1" dirty="0">
                <a:solidFill>
                  <a:srgbClr val="38BDF8"/>
                </a:solidFill>
                <a:latin typeface="Calibri" pitchFamily="34" charset="0"/>
                <a:ea typeface="Calibri" pitchFamily="34" charset="-122"/>
                <a:cs typeface="Calibri" pitchFamily="34" charset="-120"/>
              </a:rPr>
              <a:t>If too few rows are found, a gap-fill loop writes new queries and goes back to Collect.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60A13"/>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600" b="1" dirty="0">
                <a:solidFill>
                  <a:srgbClr val="E7ECF5"/>
                </a:solidFill>
                <a:latin typeface="Calibri" pitchFamily="34" charset="0"/>
                <a:ea typeface="Calibri" pitchFamily="34" charset="-122"/>
                <a:cs typeface="Calibri" pitchFamily="34" charset="-120"/>
              </a:rPr>
              <a:t>No quote, no value</a:t>
            </a:r>
            <a:endParaRPr lang="en-US" sz="3600" dirty="0"/>
          </a:p>
        </p:txBody>
      </p:sp>
      <p:sp>
        <p:nvSpPr>
          <p:cNvPr id="3" name="Text 1"/>
          <p:cNvSpPr txBox="1"/>
          <p:nvPr/>
        </p:nvSpPr>
        <p:spPr>
          <a:xfrm>
            <a:off x="548640" y="1115568"/>
            <a:ext cx="11064240" cy="411480"/>
          </a:xfrm>
          <a:prstGeom prst="rect">
            <a:avLst/>
          </a:prstGeom>
          <a:noFill/>
          <a:ln/>
        </p:spPr>
        <p:txBody>
          <a:bodyPr wrap="square" lIns="0" tIns="0" rIns="0" bIns="0" rtlCol="0" anchor="ctr"/>
          <a:lstStyle/>
          <a:p>
            <a:pPr indent="0" marL="0">
              <a:buNone/>
            </a:pPr>
            <a:r>
              <a:rPr lang="en-US" sz="1600" dirty="0">
                <a:solidFill>
                  <a:srgbClr val="94A3B8"/>
                </a:solidFill>
                <a:latin typeface="Calibri" pitchFamily="34" charset="0"/>
                <a:ea typeface="Calibri" pitchFamily="34" charset="-122"/>
                <a:cs typeface="Calibri" pitchFamily="34" charset="-120"/>
              </a:rPr>
              <a:t>The trust layer is what makes Scout different from every other scraper.</a:t>
            </a:r>
            <a:endParaRPr lang="en-US" sz="1600" dirty="0"/>
          </a:p>
        </p:txBody>
      </p:sp>
      <p:sp>
        <p:nvSpPr>
          <p:cNvPr id="4" name="Shape 2"/>
          <p:cNvSpPr/>
          <p:nvPr/>
        </p:nvSpPr>
        <p:spPr>
          <a:xfrm>
            <a:off x="548640" y="1828800"/>
            <a:ext cx="640080" cy="640080"/>
          </a:xfrm>
          <a:prstGeom prst="ellipse">
            <a:avLst/>
          </a:prstGeom>
          <a:solidFill>
            <a:srgbClr val="2DD4BF">
              <a:alpha val="18000"/>
            </a:srgbClr>
          </a:solidFill>
          <a:ln w="12700">
            <a:solidFill>
              <a:srgbClr val="2DD4BF">
                <a:alpha val="45000"/>
              </a:srgbClr>
            </a:solidFill>
            <a:prstDash val="solid"/>
          </a:ln>
        </p:spPr>
      </p:sp>
      <p:pic>
        <p:nvPicPr>
          <p:cNvPr id="5" name="Image 0" descr="preencoded.png">    </p:cNvPr>
          <p:cNvPicPr>
            <a:picLocks noChangeAspect="1"/>
          </p:cNvPicPr>
          <p:nvPr/>
        </p:nvPicPr>
        <p:blipFill>
          <a:blip r:embed="rId1"/>
          <a:stretch>
            <a:fillRect/>
          </a:stretch>
        </p:blipFill>
        <p:spPr>
          <a:xfrm>
            <a:off x="702259" y="1982419"/>
            <a:ext cx="332842" cy="332842"/>
          </a:xfrm>
          <a:prstGeom prst="rect">
            <a:avLst/>
          </a:prstGeom>
        </p:spPr>
      </p:pic>
      <p:sp>
        <p:nvSpPr>
          <p:cNvPr id="6" name="Text 3"/>
          <p:cNvSpPr txBox="1"/>
          <p:nvPr/>
        </p:nvSpPr>
        <p:spPr>
          <a:xfrm>
            <a:off x="1417320" y="1847088"/>
            <a:ext cx="4754880" cy="384048"/>
          </a:xfrm>
          <a:prstGeom prst="rect">
            <a:avLst/>
          </a:prstGeom>
          <a:noFill/>
          <a:ln/>
        </p:spPr>
        <p:txBody>
          <a:bodyPr wrap="square" lIns="0" tIns="0" rIns="0" bIns="0" rtlCol="0" anchor="t"/>
          <a:lstStyle/>
          <a:p>
            <a:pPr indent="0" marL="0">
              <a:buNone/>
            </a:pPr>
            <a:r>
              <a:rPr lang="en-US" sz="1900" b="1" dirty="0">
                <a:solidFill>
                  <a:srgbClr val="E7ECF5"/>
                </a:solidFill>
                <a:latin typeface="Calibri" pitchFamily="34" charset="0"/>
                <a:ea typeface="Calibri" pitchFamily="34" charset="-122"/>
                <a:cs typeface="Calibri" pitchFamily="34" charset="-120"/>
              </a:rPr>
              <a:t>Verbatim quote check</a:t>
            </a:r>
            <a:endParaRPr lang="en-US" sz="1900" dirty="0"/>
          </a:p>
        </p:txBody>
      </p:sp>
      <p:sp>
        <p:nvSpPr>
          <p:cNvPr id="7" name="Text 4"/>
          <p:cNvSpPr txBox="1"/>
          <p:nvPr/>
        </p:nvSpPr>
        <p:spPr>
          <a:xfrm>
            <a:off x="1417320" y="2258568"/>
            <a:ext cx="4754880" cy="868680"/>
          </a:xfrm>
          <a:prstGeom prst="rect">
            <a:avLst/>
          </a:prstGeom>
          <a:noFill/>
          <a:ln/>
        </p:spPr>
        <p:txBody>
          <a:bodyPr wrap="square" lIns="0" tIns="0" rIns="0" bIns="0" rtlCol="0" anchor="t"/>
          <a:lstStyle/>
          <a:p>
            <a:pPr indent="0" marL="0">
              <a:buNone/>
            </a:pPr>
            <a:r>
              <a:rPr lang="en-US" sz="1350" dirty="0">
                <a:solidFill>
                  <a:srgbClr val="94A3B8"/>
                </a:solidFill>
                <a:latin typeface="Calibri" pitchFamily="34" charset="0"/>
                <a:ea typeface="Calibri" pitchFamily="34" charset="-122"/>
                <a:cs typeface="Calibri" pitchFamily="34" charset="-120"/>
              </a:rPr>
              <a:t>A value is kept only if its quote is really on the page and the value is in the quote. “Series C” is rejected when the page says “Series A”.</a:t>
            </a:r>
            <a:endParaRPr lang="en-US" sz="1350" dirty="0"/>
          </a:p>
        </p:txBody>
      </p:sp>
      <p:sp>
        <p:nvSpPr>
          <p:cNvPr id="8" name="Shape 5"/>
          <p:cNvSpPr/>
          <p:nvPr/>
        </p:nvSpPr>
        <p:spPr>
          <a:xfrm>
            <a:off x="548640" y="3246120"/>
            <a:ext cx="640080" cy="640080"/>
          </a:xfrm>
          <a:prstGeom prst="ellipse">
            <a:avLst/>
          </a:prstGeom>
          <a:solidFill>
            <a:srgbClr val="2DD4BF">
              <a:alpha val="18000"/>
            </a:srgbClr>
          </a:solidFill>
          <a:ln w="12700">
            <a:solidFill>
              <a:srgbClr val="2DD4BF">
                <a:alpha val="45000"/>
              </a:srgbClr>
            </a:solidFill>
            <a:prstDash val="solid"/>
          </a:ln>
        </p:spPr>
      </p:sp>
      <p:pic>
        <p:nvPicPr>
          <p:cNvPr id="9" name="Image 1" descr="preencoded.png">    </p:cNvPr>
          <p:cNvPicPr>
            <a:picLocks noChangeAspect="1"/>
          </p:cNvPicPr>
          <p:nvPr/>
        </p:nvPicPr>
        <p:blipFill>
          <a:blip r:embed="rId2"/>
          <a:stretch>
            <a:fillRect/>
          </a:stretch>
        </p:blipFill>
        <p:spPr>
          <a:xfrm>
            <a:off x="702259" y="3399739"/>
            <a:ext cx="332842" cy="332842"/>
          </a:xfrm>
          <a:prstGeom prst="rect">
            <a:avLst/>
          </a:prstGeom>
        </p:spPr>
      </p:pic>
      <p:sp>
        <p:nvSpPr>
          <p:cNvPr id="10" name="Text 6"/>
          <p:cNvSpPr txBox="1"/>
          <p:nvPr/>
        </p:nvSpPr>
        <p:spPr>
          <a:xfrm>
            <a:off x="1417320" y="3264408"/>
            <a:ext cx="4754880" cy="384048"/>
          </a:xfrm>
          <a:prstGeom prst="rect">
            <a:avLst/>
          </a:prstGeom>
          <a:noFill/>
          <a:ln/>
        </p:spPr>
        <p:txBody>
          <a:bodyPr wrap="square" lIns="0" tIns="0" rIns="0" bIns="0" rtlCol="0" anchor="t"/>
          <a:lstStyle/>
          <a:p>
            <a:pPr indent="0" marL="0">
              <a:buNone/>
            </a:pPr>
            <a:r>
              <a:rPr lang="en-US" sz="1900" b="1" dirty="0">
                <a:solidFill>
                  <a:srgbClr val="E7ECF5"/>
                </a:solidFill>
                <a:latin typeface="Calibri" pitchFamily="34" charset="0"/>
                <a:ea typeface="Calibri" pitchFamily="34" charset="-122"/>
                <a:cs typeface="Calibri" pitchFamily="34" charset="-120"/>
              </a:rPr>
              <a:t>Cross-source verification</a:t>
            </a:r>
            <a:endParaRPr lang="en-US" sz="1900" dirty="0"/>
          </a:p>
        </p:txBody>
      </p:sp>
      <p:sp>
        <p:nvSpPr>
          <p:cNvPr id="11" name="Text 7"/>
          <p:cNvSpPr txBox="1"/>
          <p:nvPr/>
        </p:nvSpPr>
        <p:spPr>
          <a:xfrm>
            <a:off x="1417320" y="3675888"/>
            <a:ext cx="4754880" cy="868680"/>
          </a:xfrm>
          <a:prstGeom prst="rect">
            <a:avLst/>
          </a:prstGeom>
          <a:noFill/>
          <a:ln/>
        </p:spPr>
        <p:txBody>
          <a:bodyPr wrap="square" lIns="0" tIns="0" rIns="0" bIns="0" rtlCol="0" anchor="t"/>
          <a:lstStyle/>
          <a:p>
            <a:pPr indent="0" marL="0">
              <a:buNone/>
            </a:pPr>
            <a:r>
              <a:rPr lang="en-US" sz="1350" dirty="0">
                <a:solidFill>
                  <a:srgbClr val="94A3B8"/>
                </a:solidFill>
                <a:latin typeface="Calibri" pitchFamily="34" charset="0"/>
                <a:ea typeface="Calibri" pitchFamily="34" charset="-122"/>
                <a:cs typeface="Calibri" pitchFamily="34" charset="-120"/>
              </a:rPr>
              <a:t>Each field is compared across independent domains: verified, single source, or conflict — resolved by a person in one click.</a:t>
            </a:r>
            <a:endParaRPr lang="en-US" sz="1350" dirty="0"/>
          </a:p>
        </p:txBody>
      </p:sp>
      <p:sp>
        <p:nvSpPr>
          <p:cNvPr id="12" name="Shape 8"/>
          <p:cNvSpPr/>
          <p:nvPr/>
        </p:nvSpPr>
        <p:spPr>
          <a:xfrm>
            <a:off x="548640" y="4663440"/>
            <a:ext cx="640080" cy="640080"/>
          </a:xfrm>
          <a:prstGeom prst="ellipse">
            <a:avLst/>
          </a:prstGeom>
          <a:solidFill>
            <a:srgbClr val="2DD4BF">
              <a:alpha val="18000"/>
            </a:srgbClr>
          </a:solidFill>
          <a:ln w="12700">
            <a:solidFill>
              <a:srgbClr val="2DD4BF">
                <a:alpha val="45000"/>
              </a:srgbClr>
            </a:solidFill>
            <a:prstDash val="solid"/>
          </a:ln>
        </p:spPr>
      </p:sp>
      <p:pic>
        <p:nvPicPr>
          <p:cNvPr id="13" name="Image 2" descr="preencoded.png">    </p:cNvPr>
          <p:cNvPicPr>
            <a:picLocks noChangeAspect="1"/>
          </p:cNvPicPr>
          <p:nvPr/>
        </p:nvPicPr>
        <p:blipFill>
          <a:blip r:embed="rId3"/>
          <a:stretch>
            <a:fillRect/>
          </a:stretch>
        </p:blipFill>
        <p:spPr>
          <a:xfrm>
            <a:off x="702259" y="4817059"/>
            <a:ext cx="332842" cy="332842"/>
          </a:xfrm>
          <a:prstGeom prst="rect">
            <a:avLst/>
          </a:prstGeom>
        </p:spPr>
      </p:pic>
      <p:sp>
        <p:nvSpPr>
          <p:cNvPr id="14" name="Text 9"/>
          <p:cNvSpPr txBox="1"/>
          <p:nvPr/>
        </p:nvSpPr>
        <p:spPr>
          <a:xfrm>
            <a:off x="1417320" y="4681728"/>
            <a:ext cx="4754880" cy="384048"/>
          </a:xfrm>
          <a:prstGeom prst="rect">
            <a:avLst/>
          </a:prstGeom>
          <a:noFill/>
          <a:ln/>
        </p:spPr>
        <p:txBody>
          <a:bodyPr wrap="square" lIns="0" tIns="0" rIns="0" bIns="0" rtlCol="0" anchor="t"/>
          <a:lstStyle/>
          <a:p>
            <a:pPr indent="0" marL="0">
              <a:buNone/>
            </a:pPr>
            <a:r>
              <a:rPr lang="en-US" sz="1900" b="1" dirty="0">
                <a:solidFill>
                  <a:srgbClr val="E7ECF5"/>
                </a:solidFill>
                <a:latin typeface="Calibri" pitchFamily="34" charset="0"/>
                <a:ea typeface="Calibri" pitchFamily="34" charset="-122"/>
                <a:cs typeface="Calibri" pitchFamily="34" charset="-120"/>
              </a:rPr>
              <a:t>Click-to-Proof</a:t>
            </a:r>
            <a:endParaRPr lang="en-US" sz="1900" dirty="0"/>
          </a:p>
        </p:txBody>
      </p:sp>
      <p:sp>
        <p:nvSpPr>
          <p:cNvPr id="15" name="Text 10"/>
          <p:cNvSpPr txBox="1"/>
          <p:nvPr/>
        </p:nvSpPr>
        <p:spPr>
          <a:xfrm>
            <a:off x="1417320" y="5093208"/>
            <a:ext cx="4754880" cy="868680"/>
          </a:xfrm>
          <a:prstGeom prst="rect">
            <a:avLst/>
          </a:prstGeom>
          <a:noFill/>
          <a:ln/>
        </p:spPr>
        <p:txBody>
          <a:bodyPr wrap="square" lIns="0" tIns="0" rIns="0" bIns="0" rtlCol="0" anchor="t"/>
          <a:lstStyle/>
          <a:p>
            <a:pPr indent="0" marL="0">
              <a:buNone/>
            </a:pPr>
            <a:r>
              <a:rPr lang="en-US" sz="1350" dirty="0">
                <a:solidFill>
                  <a:srgbClr val="94A3B8"/>
                </a:solidFill>
                <a:latin typeface="Calibri" pitchFamily="34" charset="0"/>
                <a:ea typeface="Calibri" pitchFamily="34" charset="-122"/>
                <a:cs typeface="Calibri" pitchFamily="34" charset="-120"/>
              </a:rPr>
              <a:t>Click any cell to see the exact sentence highlighted in its source page, with the URL, fetch time and a screenshot.</a:t>
            </a:r>
            <a:endParaRPr lang="en-US" sz="1350" dirty="0"/>
          </a:p>
        </p:txBody>
      </p:sp>
      <p:sp>
        <p:nvSpPr>
          <p:cNvPr id="16" name="Shape 11"/>
          <p:cNvSpPr/>
          <p:nvPr/>
        </p:nvSpPr>
        <p:spPr>
          <a:xfrm>
            <a:off x="6848856" y="1636776"/>
            <a:ext cx="4544568" cy="4498372"/>
          </a:xfrm>
          <a:prstGeom prst="roundRect">
            <a:avLst>
              <a:gd name="adj" fmla="val 2033"/>
            </a:avLst>
          </a:prstGeom>
          <a:solidFill>
            <a:srgbClr val="16213A"/>
          </a:solidFill>
          <a:ln w="15875">
            <a:solidFill>
              <a:srgbClr val="2DD4BF">
                <a:alpha val="50000"/>
              </a:srgbClr>
            </a:solidFill>
            <a:prstDash val="solid"/>
          </a:ln>
          <a:effectLst>
            <a:outerShdw sx="100000" sy="100000" kx="0" ky="0" algn="bl" rotWithShape="0" blurRad="177800" dist="50800" dir="5400000">
              <a:srgbClr val="000000">
                <a:alpha val="50000"/>
              </a:srgbClr>
            </a:outerShdw>
          </a:effectLst>
        </p:spPr>
      </p:sp>
      <p:pic>
        <p:nvPicPr>
          <p:cNvPr id="17" name="Image 3" descr="preencoded.png">    </p:cNvPr>
          <p:cNvPicPr>
            <a:picLocks noChangeAspect="1"/>
          </p:cNvPicPr>
          <p:nvPr/>
        </p:nvPicPr>
        <p:blipFill>
          <a:blip r:embed="rId4"/>
          <a:stretch>
            <a:fillRect/>
          </a:stretch>
        </p:blipFill>
        <p:spPr>
          <a:xfrm>
            <a:off x="6903720" y="1691640"/>
            <a:ext cx="4434840" cy="438864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60A13"/>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600" b="1" dirty="0">
                <a:solidFill>
                  <a:srgbClr val="E7ECF5"/>
                </a:solidFill>
                <a:latin typeface="Calibri" pitchFamily="34" charset="0"/>
                <a:ea typeface="Calibri" pitchFamily="34" charset="-122"/>
                <a:cs typeface="Calibri" pitchFamily="34" charset="-120"/>
              </a:rPr>
              <a:t>Real run, real numbers</a:t>
            </a:r>
            <a:endParaRPr lang="en-US" sz="3600" dirty="0"/>
          </a:p>
        </p:txBody>
      </p:sp>
      <p:sp>
        <p:nvSpPr>
          <p:cNvPr id="3" name="Text 1"/>
          <p:cNvSpPr txBox="1"/>
          <p:nvPr/>
        </p:nvSpPr>
        <p:spPr>
          <a:xfrm>
            <a:off x="548640" y="1115568"/>
            <a:ext cx="11064240" cy="411480"/>
          </a:xfrm>
          <a:prstGeom prst="rect">
            <a:avLst/>
          </a:prstGeom>
          <a:noFill/>
          <a:ln/>
        </p:spPr>
        <p:txBody>
          <a:bodyPr wrap="square" lIns="0" tIns="0" rIns="0" bIns="0" rtlCol="0" anchor="ctr"/>
          <a:lstStyle/>
          <a:p>
            <a:pPr indent="0" marL="0">
              <a:buNone/>
            </a:pPr>
            <a:r>
              <a:rPr lang="en-US" sz="1600" dirty="0">
                <a:solidFill>
                  <a:srgbClr val="94A3B8"/>
                </a:solidFill>
                <a:latin typeface="Calibri" pitchFamily="34" charset="0"/>
                <a:ea typeface="Calibri" pitchFamily="34" charset="-122"/>
                <a:cs typeface="Calibri" pitchFamily="34" charset="-120"/>
              </a:rPr>
              <a:t>“AI startups in Bangalore with funding stage, founding year, founders and website”</a:t>
            </a:r>
            <a:endParaRPr lang="en-US" sz="1600" dirty="0"/>
          </a:p>
        </p:txBody>
      </p:sp>
      <p:sp>
        <p:nvSpPr>
          <p:cNvPr id="4" name="Shape 2"/>
          <p:cNvSpPr/>
          <p:nvPr/>
        </p:nvSpPr>
        <p:spPr>
          <a:xfrm>
            <a:off x="548640" y="1828800"/>
            <a:ext cx="2606040" cy="2331720"/>
          </a:xfrm>
          <a:prstGeom prst="roundRect">
            <a:avLst>
              <a:gd name="adj" fmla="val 4706"/>
            </a:avLst>
          </a:prstGeom>
          <a:solidFill>
            <a:srgbClr val="0F1728"/>
          </a:solidFill>
          <a:ln w="12700">
            <a:solidFill>
              <a:srgbClr val="243352"/>
            </a:solidFill>
            <a:prstDash val="solid"/>
          </a:ln>
          <a:effectLst>
            <a:outerShdw sx="100000" sy="100000" kx="0" ky="0" algn="bl" rotWithShape="0" blurRad="101600" dist="25400" dir="5400000">
              <a:srgbClr val="000000">
                <a:alpha val="35000"/>
              </a:srgbClr>
            </a:outerShdw>
          </a:effectLst>
        </p:spPr>
      </p:sp>
      <p:sp>
        <p:nvSpPr>
          <p:cNvPr id="5" name="Text 3"/>
          <p:cNvSpPr txBox="1"/>
          <p:nvPr/>
        </p:nvSpPr>
        <p:spPr>
          <a:xfrm>
            <a:off x="822960" y="2011680"/>
            <a:ext cx="2103120" cy="960120"/>
          </a:xfrm>
          <a:prstGeom prst="rect">
            <a:avLst/>
          </a:prstGeom>
          <a:noFill/>
          <a:ln/>
        </p:spPr>
        <p:txBody>
          <a:bodyPr wrap="square" lIns="0" tIns="0" rIns="0" bIns="0" rtlCol="0" anchor="ctr"/>
          <a:lstStyle/>
          <a:p>
            <a:pPr indent="0" marL="0">
              <a:buNone/>
            </a:pPr>
            <a:r>
              <a:rPr lang="en-US" sz="4800" b="1" dirty="0">
                <a:solidFill>
                  <a:srgbClr val="2DD4BF"/>
                </a:solidFill>
                <a:latin typeface="Calibri" pitchFamily="34" charset="0"/>
                <a:ea typeface="Calibri" pitchFamily="34" charset="-122"/>
                <a:cs typeface="Calibri" pitchFamily="34" charset="-120"/>
              </a:rPr>
              <a:t>59</a:t>
            </a:r>
            <a:endParaRPr lang="en-US" sz="4800" dirty="0"/>
          </a:p>
        </p:txBody>
      </p:sp>
      <p:sp>
        <p:nvSpPr>
          <p:cNvPr id="6" name="Text 4"/>
          <p:cNvSpPr txBox="1"/>
          <p:nvPr/>
        </p:nvSpPr>
        <p:spPr>
          <a:xfrm>
            <a:off x="822960" y="2999232"/>
            <a:ext cx="2148840" cy="384048"/>
          </a:xfrm>
          <a:prstGeom prst="rect">
            <a:avLst/>
          </a:prstGeom>
          <a:noFill/>
          <a:ln/>
        </p:spPr>
        <p:txBody>
          <a:bodyPr wrap="square" lIns="0" tIns="0" rIns="0" bIns="0" rtlCol="0" anchor="t"/>
          <a:lstStyle/>
          <a:p>
            <a:pPr indent="0" marL="0">
              <a:buNone/>
            </a:pPr>
            <a:r>
              <a:rPr lang="en-US" sz="1700" b="1" dirty="0">
                <a:solidFill>
                  <a:srgbClr val="E7ECF5"/>
                </a:solidFill>
                <a:latin typeface="Calibri" pitchFamily="34" charset="0"/>
                <a:ea typeface="Calibri" pitchFamily="34" charset="-122"/>
                <a:cs typeface="Calibri" pitchFamily="34" charset="-120"/>
              </a:rPr>
              <a:t>clean rows</a:t>
            </a:r>
            <a:endParaRPr lang="en-US" sz="1700" dirty="0"/>
          </a:p>
        </p:txBody>
      </p:sp>
      <p:sp>
        <p:nvSpPr>
          <p:cNvPr id="7" name="Text 5"/>
          <p:cNvSpPr txBox="1"/>
          <p:nvPr/>
        </p:nvSpPr>
        <p:spPr>
          <a:xfrm>
            <a:off x="822960" y="3401568"/>
            <a:ext cx="2148840" cy="640080"/>
          </a:xfrm>
          <a:prstGeom prst="rect">
            <a:avLst/>
          </a:prstGeom>
          <a:noFill/>
          <a:ln/>
        </p:spPr>
        <p:txBody>
          <a:bodyPr wrap="square" lIns="0" tIns="0" rIns="0" bIns="0" rtlCol="0" anchor="t"/>
          <a:lstStyle/>
          <a:p>
            <a:pPr indent="0" marL="0">
              <a:buNone/>
            </a:pPr>
            <a:r>
              <a:rPr lang="en-US" sz="1250" dirty="0">
                <a:solidFill>
                  <a:srgbClr val="94A3B8"/>
                </a:solidFill>
                <a:latin typeface="Calibri" pitchFamily="34" charset="0"/>
                <a:ea typeface="Calibri" pitchFamily="34" charset="-122"/>
                <a:cs typeface="Calibri" pitchFamily="34" charset="-120"/>
              </a:rPr>
              <a:t>from 64 raw rows after merging 5 duplicates</a:t>
            </a:r>
            <a:endParaRPr lang="en-US" sz="1250" dirty="0"/>
          </a:p>
        </p:txBody>
      </p:sp>
      <p:sp>
        <p:nvSpPr>
          <p:cNvPr id="8" name="Shape 6"/>
          <p:cNvSpPr/>
          <p:nvPr/>
        </p:nvSpPr>
        <p:spPr>
          <a:xfrm>
            <a:off x="3383280" y="1828800"/>
            <a:ext cx="2606040" cy="2331720"/>
          </a:xfrm>
          <a:prstGeom prst="roundRect">
            <a:avLst>
              <a:gd name="adj" fmla="val 4706"/>
            </a:avLst>
          </a:prstGeom>
          <a:solidFill>
            <a:srgbClr val="0F1728"/>
          </a:solidFill>
          <a:ln w="12700">
            <a:solidFill>
              <a:srgbClr val="243352"/>
            </a:solidFill>
            <a:prstDash val="solid"/>
          </a:ln>
          <a:effectLst>
            <a:outerShdw sx="100000" sy="100000" kx="0" ky="0" algn="bl" rotWithShape="0" blurRad="101600" dist="25400" dir="5400000">
              <a:srgbClr val="000000">
                <a:alpha val="35000"/>
              </a:srgbClr>
            </a:outerShdw>
          </a:effectLst>
        </p:spPr>
      </p:sp>
      <p:sp>
        <p:nvSpPr>
          <p:cNvPr id="9" name="Text 7"/>
          <p:cNvSpPr txBox="1"/>
          <p:nvPr/>
        </p:nvSpPr>
        <p:spPr>
          <a:xfrm>
            <a:off x="3657600" y="2011680"/>
            <a:ext cx="2103120" cy="960120"/>
          </a:xfrm>
          <a:prstGeom prst="rect">
            <a:avLst/>
          </a:prstGeom>
          <a:noFill/>
          <a:ln/>
        </p:spPr>
        <p:txBody>
          <a:bodyPr wrap="square" lIns="0" tIns="0" rIns="0" bIns="0" rtlCol="0" anchor="ctr"/>
          <a:lstStyle/>
          <a:p>
            <a:pPr indent="0" marL="0">
              <a:buNone/>
            </a:pPr>
            <a:r>
              <a:rPr lang="en-US" sz="4800" b="1" dirty="0">
                <a:solidFill>
                  <a:srgbClr val="38BDF8"/>
                </a:solidFill>
                <a:latin typeface="Calibri" pitchFamily="34" charset="0"/>
                <a:ea typeface="Calibri" pitchFamily="34" charset="-122"/>
                <a:cs typeface="Calibri" pitchFamily="34" charset="-120"/>
              </a:rPr>
              <a:t>~1 min</a:t>
            </a:r>
            <a:endParaRPr lang="en-US" sz="4800" dirty="0"/>
          </a:p>
        </p:txBody>
      </p:sp>
      <p:sp>
        <p:nvSpPr>
          <p:cNvPr id="10" name="Text 8"/>
          <p:cNvSpPr txBox="1"/>
          <p:nvPr/>
        </p:nvSpPr>
        <p:spPr>
          <a:xfrm>
            <a:off x="3657600" y="2999232"/>
            <a:ext cx="2148840" cy="384048"/>
          </a:xfrm>
          <a:prstGeom prst="rect">
            <a:avLst/>
          </a:prstGeom>
          <a:noFill/>
          <a:ln/>
        </p:spPr>
        <p:txBody>
          <a:bodyPr wrap="square" lIns="0" tIns="0" rIns="0" bIns="0" rtlCol="0" anchor="t"/>
          <a:lstStyle/>
          <a:p>
            <a:pPr indent="0" marL="0">
              <a:buNone/>
            </a:pPr>
            <a:r>
              <a:rPr lang="en-US" sz="1700" b="1" dirty="0">
                <a:solidFill>
                  <a:srgbClr val="E7ECF5"/>
                </a:solidFill>
                <a:latin typeface="Calibri" pitchFamily="34" charset="0"/>
                <a:ea typeface="Calibri" pitchFamily="34" charset="-122"/>
                <a:cs typeface="Calibri" pitchFamily="34" charset="-120"/>
              </a:rPr>
              <a:t>end to end</a:t>
            </a:r>
            <a:endParaRPr lang="en-US" sz="1700" dirty="0"/>
          </a:p>
        </p:txBody>
      </p:sp>
      <p:sp>
        <p:nvSpPr>
          <p:cNvPr id="11" name="Text 9"/>
          <p:cNvSpPr txBox="1"/>
          <p:nvPr/>
        </p:nvSpPr>
        <p:spPr>
          <a:xfrm>
            <a:off x="3657600" y="3401568"/>
            <a:ext cx="2148840" cy="640080"/>
          </a:xfrm>
          <a:prstGeom prst="rect">
            <a:avLst/>
          </a:prstGeom>
          <a:noFill/>
          <a:ln/>
        </p:spPr>
        <p:txBody>
          <a:bodyPr wrap="square" lIns="0" tIns="0" rIns="0" bIns="0" rtlCol="0" anchor="t"/>
          <a:lstStyle/>
          <a:p>
            <a:pPr indent="0" marL="0">
              <a:buNone/>
            </a:pPr>
            <a:r>
              <a:rPr lang="en-US" sz="1250" dirty="0">
                <a:solidFill>
                  <a:srgbClr val="94A3B8"/>
                </a:solidFill>
                <a:latin typeface="Calibri" pitchFamily="34" charset="0"/>
                <a:ea typeface="Calibri" pitchFamily="34" charset="-122"/>
                <a:cs typeface="Calibri" pitchFamily="34" charset="-120"/>
              </a:rPr>
              <a:t>plan, search, read, extract and verify</a:t>
            </a:r>
            <a:endParaRPr lang="en-US" sz="1250" dirty="0"/>
          </a:p>
        </p:txBody>
      </p:sp>
      <p:sp>
        <p:nvSpPr>
          <p:cNvPr id="12" name="Shape 10"/>
          <p:cNvSpPr/>
          <p:nvPr/>
        </p:nvSpPr>
        <p:spPr>
          <a:xfrm>
            <a:off x="6217920" y="1828800"/>
            <a:ext cx="2606040" cy="2331720"/>
          </a:xfrm>
          <a:prstGeom prst="roundRect">
            <a:avLst>
              <a:gd name="adj" fmla="val 4706"/>
            </a:avLst>
          </a:prstGeom>
          <a:solidFill>
            <a:srgbClr val="0F1728"/>
          </a:solidFill>
          <a:ln w="12700">
            <a:solidFill>
              <a:srgbClr val="243352"/>
            </a:solidFill>
            <a:prstDash val="solid"/>
          </a:ln>
          <a:effectLst>
            <a:outerShdw sx="100000" sy="100000" kx="0" ky="0" algn="bl" rotWithShape="0" blurRad="101600" dist="25400" dir="5400000">
              <a:srgbClr val="000000">
                <a:alpha val="35000"/>
              </a:srgbClr>
            </a:outerShdw>
          </a:effectLst>
        </p:spPr>
      </p:sp>
      <p:sp>
        <p:nvSpPr>
          <p:cNvPr id="13" name="Text 11"/>
          <p:cNvSpPr txBox="1"/>
          <p:nvPr/>
        </p:nvSpPr>
        <p:spPr>
          <a:xfrm>
            <a:off x="6492240" y="2011680"/>
            <a:ext cx="2103120" cy="960120"/>
          </a:xfrm>
          <a:prstGeom prst="rect">
            <a:avLst/>
          </a:prstGeom>
          <a:noFill/>
          <a:ln/>
        </p:spPr>
        <p:txBody>
          <a:bodyPr wrap="square" lIns="0" tIns="0" rIns="0" bIns="0" rtlCol="0" anchor="ctr"/>
          <a:lstStyle/>
          <a:p>
            <a:pPr indent="0" marL="0">
              <a:buNone/>
            </a:pPr>
            <a:r>
              <a:rPr lang="en-US" sz="4800" b="1" dirty="0">
                <a:solidFill>
                  <a:srgbClr val="FBBF24"/>
                </a:solidFill>
                <a:latin typeface="Calibri" pitchFamily="34" charset="0"/>
                <a:ea typeface="Calibri" pitchFamily="34" charset="-122"/>
                <a:cs typeface="Calibri" pitchFamily="34" charset="-120"/>
              </a:rPr>
              <a:t>15</a:t>
            </a:r>
            <a:endParaRPr lang="en-US" sz="4800" dirty="0"/>
          </a:p>
        </p:txBody>
      </p:sp>
      <p:sp>
        <p:nvSpPr>
          <p:cNvPr id="14" name="Text 12"/>
          <p:cNvSpPr txBox="1"/>
          <p:nvPr/>
        </p:nvSpPr>
        <p:spPr>
          <a:xfrm>
            <a:off x="6492240" y="2999232"/>
            <a:ext cx="2148840" cy="384048"/>
          </a:xfrm>
          <a:prstGeom prst="rect">
            <a:avLst/>
          </a:prstGeom>
          <a:noFill/>
          <a:ln/>
        </p:spPr>
        <p:txBody>
          <a:bodyPr wrap="square" lIns="0" tIns="0" rIns="0" bIns="0" rtlCol="0" anchor="t"/>
          <a:lstStyle/>
          <a:p>
            <a:pPr indent="0" marL="0">
              <a:buNone/>
            </a:pPr>
            <a:r>
              <a:rPr lang="en-US" sz="1700" b="1" dirty="0">
                <a:solidFill>
                  <a:srgbClr val="E7ECF5"/>
                </a:solidFill>
                <a:latin typeface="Calibri" pitchFamily="34" charset="0"/>
                <a:ea typeface="Calibri" pitchFamily="34" charset="-122"/>
                <a:cs typeface="Calibri" pitchFamily="34" charset="-120"/>
              </a:rPr>
              <a:t>values rejected</a:t>
            </a:r>
            <a:endParaRPr lang="en-US" sz="1700" dirty="0"/>
          </a:p>
        </p:txBody>
      </p:sp>
      <p:sp>
        <p:nvSpPr>
          <p:cNvPr id="15" name="Text 13"/>
          <p:cNvSpPr txBox="1"/>
          <p:nvPr/>
        </p:nvSpPr>
        <p:spPr>
          <a:xfrm>
            <a:off x="6492240" y="3401568"/>
            <a:ext cx="2148840" cy="640080"/>
          </a:xfrm>
          <a:prstGeom prst="rect">
            <a:avLst/>
          </a:prstGeom>
          <a:noFill/>
          <a:ln/>
        </p:spPr>
        <p:txBody>
          <a:bodyPr wrap="square" lIns="0" tIns="0" rIns="0" bIns="0" rtlCol="0" anchor="t"/>
          <a:lstStyle/>
          <a:p>
            <a:pPr indent="0" marL="0">
              <a:buNone/>
            </a:pPr>
            <a:r>
              <a:rPr lang="en-US" sz="1250" dirty="0">
                <a:solidFill>
                  <a:srgbClr val="94A3B8"/>
                </a:solidFill>
                <a:latin typeface="Calibri" pitchFamily="34" charset="0"/>
                <a:ea typeface="Calibri" pitchFamily="34" charset="-122"/>
                <a:cs typeface="Calibri" pitchFamily="34" charset="-120"/>
              </a:rPr>
              <a:t>unproven: the quote was not on the page</a:t>
            </a:r>
            <a:endParaRPr lang="en-US" sz="1250" dirty="0"/>
          </a:p>
        </p:txBody>
      </p:sp>
      <p:sp>
        <p:nvSpPr>
          <p:cNvPr id="16" name="Shape 14"/>
          <p:cNvSpPr/>
          <p:nvPr/>
        </p:nvSpPr>
        <p:spPr>
          <a:xfrm>
            <a:off x="9052560" y="1828800"/>
            <a:ext cx="2606040" cy="2331720"/>
          </a:xfrm>
          <a:prstGeom prst="roundRect">
            <a:avLst>
              <a:gd name="adj" fmla="val 4706"/>
            </a:avLst>
          </a:prstGeom>
          <a:solidFill>
            <a:srgbClr val="0F1728"/>
          </a:solidFill>
          <a:ln w="12700">
            <a:solidFill>
              <a:srgbClr val="243352"/>
            </a:solidFill>
            <a:prstDash val="solid"/>
          </a:ln>
          <a:effectLst>
            <a:outerShdw sx="100000" sy="100000" kx="0" ky="0" algn="bl" rotWithShape="0" blurRad="101600" dist="25400" dir="5400000">
              <a:srgbClr val="000000">
                <a:alpha val="35000"/>
              </a:srgbClr>
            </a:outerShdw>
          </a:effectLst>
        </p:spPr>
      </p:sp>
      <p:sp>
        <p:nvSpPr>
          <p:cNvPr id="17" name="Text 15"/>
          <p:cNvSpPr txBox="1"/>
          <p:nvPr/>
        </p:nvSpPr>
        <p:spPr>
          <a:xfrm>
            <a:off x="9326880" y="2011680"/>
            <a:ext cx="2103120" cy="960120"/>
          </a:xfrm>
          <a:prstGeom prst="rect">
            <a:avLst/>
          </a:prstGeom>
          <a:noFill/>
          <a:ln/>
        </p:spPr>
        <p:txBody>
          <a:bodyPr wrap="square" lIns="0" tIns="0" rIns="0" bIns="0" rtlCol="0" anchor="ctr"/>
          <a:lstStyle/>
          <a:p>
            <a:pPr indent="0" marL="0">
              <a:buNone/>
            </a:pPr>
            <a:r>
              <a:rPr lang="en-US" sz="4800" b="1" dirty="0">
                <a:solidFill>
                  <a:srgbClr val="34D399"/>
                </a:solidFill>
                <a:latin typeface="Calibri" pitchFamily="34" charset="0"/>
                <a:ea typeface="Calibri" pitchFamily="34" charset="-122"/>
                <a:cs typeface="Calibri" pitchFamily="34" charset="-120"/>
              </a:rPr>
              <a:t>25</a:t>
            </a:r>
            <a:endParaRPr lang="en-US" sz="4800" dirty="0"/>
          </a:p>
        </p:txBody>
      </p:sp>
      <p:sp>
        <p:nvSpPr>
          <p:cNvPr id="18" name="Text 16"/>
          <p:cNvSpPr txBox="1"/>
          <p:nvPr/>
        </p:nvSpPr>
        <p:spPr>
          <a:xfrm>
            <a:off x="9326880" y="2999232"/>
            <a:ext cx="2148840" cy="384048"/>
          </a:xfrm>
          <a:prstGeom prst="rect">
            <a:avLst/>
          </a:prstGeom>
          <a:noFill/>
          <a:ln/>
        </p:spPr>
        <p:txBody>
          <a:bodyPr wrap="square" lIns="0" tIns="0" rIns="0" bIns="0" rtlCol="0" anchor="t"/>
          <a:lstStyle/>
          <a:p>
            <a:pPr indent="0" marL="0">
              <a:buNone/>
            </a:pPr>
            <a:r>
              <a:rPr lang="en-US" sz="1700" b="1" dirty="0">
                <a:solidFill>
                  <a:srgbClr val="E7ECF5"/>
                </a:solidFill>
                <a:latin typeface="Calibri" pitchFamily="34" charset="0"/>
                <a:ea typeface="Calibri" pitchFamily="34" charset="-122"/>
                <a:cs typeface="Calibri" pitchFamily="34" charset="-120"/>
              </a:rPr>
              <a:t>sources checked</a:t>
            </a:r>
            <a:endParaRPr lang="en-US" sz="1700" dirty="0"/>
          </a:p>
        </p:txBody>
      </p:sp>
      <p:sp>
        <p:nvSpPr>
          <p:cNvPr id="19" name="Text 17"/>
          <p:cNvSpPr txBox="1"/>
          <p:nvPr/>
        </p:nvSpPr>
        <p:spPr>
          <a:xfrm>
            <a:off x="9326880" y="3401568"/>
            <a:ext cx="2148840" cy="640080"/>
          </a:xfrm>
          <a:prstGeom prst="rect">
            <a:avLst/>
          </a:prstGeom>
          <a:noFill/>
          <a:ln/>
        </p:spPr>
        <p:txBody>
          <a:bodyPr wrap="square" lIns="0" tIns="0" rIns="0" bIns="0" rtlCol="0" anchor="t"/>
          <a:lstStyle/>
          <a:p>
            <a:pPr indent="0" marL="0">
              <a:buNone/>
            </a:pPr>
            <a:r>
              <a:rPr lang="en-US" sz="1250" dirty="0">
                <a:solidFill>
                  <a:srgbClr val="94A3B8"/>
                </a:solidFill>
                <a:latin typeface="Calibri" pitchFamily="34" charset="0"/>
                <a:ea typeface="Calibri" pitchFamily="34" charset="-122"/>
                <a:cs typeface="Calibri" pitchFamily="34" charset="-120"/>
              </a:rPr>
              <a:t>robots.txt respected for every page</a:t>
            </a:r>
            <a:endParaRPr lang="en-US" sz="1250" dirty="0"/>
          </a:p>
        </p:txBody>
      </p:sp>
      <p:sp>
        <p:nvSpPr>
          <p:cNvPr id="20" name="Shape 18"/>
          <p:cNvSpPr/>
          <p:nvPr/>
        </p:nvSpPr>
        <p:spPr>
          <a:xfrm>
            <a:off x="548640" y="4526280"/>
            <a:ext cx="11064240" cy="1600200"/>
          </a:xfrm>
          <a:prstGeom prst="roundRect">
            <a:avLst>
              <a:gd name="adj" fmla="val 6857"/>
            </a:avLst>
          </a:prstGeom>
          <a:solidFill>
            <a:srgbClr val="0F1728"/>
          </a:solidFill>
          <a:ln w="12700">
            <a:solidFill>
              <a:srgbClr val="243352"/>
            </a:solidFill>
            <a:prstDash val="solid"/>
          </a:ln>
          <a:effectLst>
            <a:outerShdw sx="100000" sy="100000" kx="0" ky="0" algn="bl" rotWithShape="0" blurRad="101600" dist="25400" dir="5400000">
              <a:srgbClr val="000000">
                <a:alpha val="35000"/>
              </a:srgbClr>
            </a:outerShdw>
          </a:effectLst>
        </p:spPr>
      </p:sp>
      <p:sp>
        <p:nvSpPr>
          <p:cNvPr id="21" name="Shape 19"/>
          <p:cNvSpPr/>
          <p:nvPr/>
        </p:nvSpPr>
        <p:spPr>
          <a:xfrm>
            <a:off x="868680" y="5029200"/>
            <a:ext cx="585216" cy="585216"/>
          </a:xfrm>
          <a:prstGeom prst="ellipse">
            <a:avLst/>
          </a:prstGeom>
          <a:solidFill>
            <a:srgbClr val="2DD4BF">
              <a:alpha val="18000"/>
            </a:srgbClr>
          </a:solidFill>
          <a:ln w="12700">
            <a:solidFill>
              <a:srgbClr val="2DD4BF">
                <a:alpha val="45000"/>
              </a:srgbClr>
            </a:solidFill>
            <a:prstDash val="solid"/>
          </a:ln>
        </p:spPr>
      </p:sp>
      <p:pic>
        <p:nvPicPr>
          <p:cNvPr id="22" name="Image 0" descr="preencoded.png">    </p:cNvPr>
          <p:cNvPicPr>
            <a:picLocks noChangeAspect="1"/>
          </p:cNvPicPr>
          <p:nvPr/>
        </p:nvPicPr>
        <p:blipFill>
          <a:blip r:embed="rId1"/>
          <a:stretch>
            <a:fillRect/>
          </a:stretch>
        </p:blipFill>
        <p:spPr>
          <a:xfrm>
            <a:off x="1009132" y="5169652"/>
            <a:ext cx="304312" cy="304312"/>
          </a:xfrm>
          <a:prstGeom prst="rect">
            <a:avLst/>
          </a:prstGeom>
        </p:spPr>
      </p:pic>
      <p:sp>
        <p:nvSpPr>
          <p:cNvPr id="23" name="Text 20"/>
          <p:cNvSpPr txBox="1"/>
          <p:nvPr/>
        </p:nvSpPr>
        <p:spPr>
          <a:xfrm>
            <a:off x="1691640" y="4663440"/>
            <a:ext cx="9692640" cy="1325880"/>
          </a:xfrm>
          <a:prstGeom prst="rect">
            <a:avLst/>
          </a:prstGeom>
          <a:noFill/>
          <a:ln/>
        </p:spPr>
        <p:txBody>
          <a:bodyPr wrap="square" lIns="0" tIns="0" rIns="0" bIns="0" rtlCol="0" anchor="ctr"/>
          <a:lstStyle/>
          <a:p>
            <a:pPr indent="0" marL="0">
              <a:buNone/>
            </a:pPr>
            <a:r>
              <a:rPr lang="en-US" sz="1500" b="1" dirty="0">
                <a:solidFill>
                  <a:srgbClr val="E7ECF5"/>
                </a:solidFill>
                <a:latin typeface="Calibri" pitchFamily="34" charset="0"/>
                <a:ea typeface="Calibri" pitchFamily="34" charset="-122"/>
                <a:cs typeface="Calibri" pitchFamily="34" charset="-120"/>
              </a:rPr>
              <a:t>Hosted on free tiers, same request: </a:t>
            </a:r>
            <a:pPr indent="0" marL="0">
              <a:buNone/>
            </a:pPr>
            <a:r>
              <a:rPr lang="en-US" sz="1500" dirty="0">
                <a:solidFill>
                  <a:srgbClr val="94A3B8"/>
                </a:solidFill>
                <a:latin typeface="Calibri" pitchFamily="34" charset="0"/>
                <a:ea typeface="Calibri" pitchFamily="34" charset="-122"/>
                <a:cs typeface="Calibri" pitchFamily="34" charset="-120"/>
              </a:rPr>
              <a:t>56 clean rows with screenshots and evidence at scout-online.vercel.app. </a:t>
            </a:r>
            <a:pPr indent="0" marL="0">
              <a:buNone/>
            </a:pPr>
            <a:r>
              <a:rPr lang="en-US" sz="1500" dirty="0">
                <a:solidFill>
                  <a:srgbClr val="94A3B8"/>
                </a:solidFill>
                <a:latin typeface="Calibri" pitchFamily="34" charset="0"/>
                <a:ea typeface="Calibri" pitchFamily="34" charset="-122"/>
                <a:cs typeface="Calibri" pitchFamily="34" charset="-120"/>
              </a:rPr>
              <a:t>Every row links to its sources; single-source rows are labelled as such instead of hidden.</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60A13"/>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600" b="1" dirty="0">
                <a:solidFill>
                  <a:srgbClr val="E7ECF5"/>
                </a:solidFill>
                <a:latin typeface="Calibri" pitchFamily="34" charset="0"/>
                <a:ea typeface="Calibri" pitchFamily="34" charset="-122"/>
                <a:cs typeface="Calibri" pitchFamily="34" charset="-120"/>
              </a:rPr>
              <a:t>Everything PS 01 asks for</a:t>
            </a:r>
            <a:endParaRPr lang="en-US" sz="3600" dirty="0"/>
          </a:p>
        </p:txBody>
      </p:sp>
      <p:sp>
        <p:nvSpPr>
          <p:cNvPr id="3" name="Text 1"/>
          <p:cNvSpPr txBox="1"/>
          <p:nvPr/>
        </p:nvSpPr>
        <p:spPr>
          <a:xfrm>
            <a:off x="548640" y="1115568"/>
            <a:ext cx="11064240" cy="411480"/>
          </a:xfrm>
          <a:prstGeom prst="rect">
            <a:avLst/>
          </a:prstGeom>
          <a:noFill/>
          <a:ln/>
        </p:spPr>
        <p:txBody>
          <a:bodyPr wrap="square" lIns="0" tIns="0" rIns="0" bIns="0" rtlCol="0" anchor="ctr"/>
          <a:lstStyle/>
          <a:p>
            <a:pPr indent="0" marL="0">
              <a:buNone/>
            </a:pPr>
            <a:r>
              <a:rPr lang="en-US" sz="1600" dirty="0">
                <a:solidFill>
                  <a:srgbClr val="94A3B8"/>
                </a:solidFill>
                <a:latin typeface="Calibri" pitchFamily="34" charset="0"/>
                <a:ea typeface="Calibri" pitchFamily="34" charset="-122"/>
                <a:cs typeface="Calibri" pitchFamily="34" charset="-120"/>
              </a:rPr>
              <a:t>Each requirement maps to a working feature you can try in the live app.</a:t>
            </a:r>
            <a:endParaRPr lang="en-US" sz="1600" dirty="0"/>
          </a:p>
        </p:txBody>
      </p:sp>
      <p:sp>
        <p:nvSpPr>
          <p:cNvPr id="4" name="Shape 2"/>
          <p:cNvSpPr/>
          <p:nvPr/>
        </p:nvSpPr>
        <p:spPr>
          <a:xfrm>
            <a:off x="548640" y="1828800"/>
            <a:ext cx="3520440" cy="1965960"/>
          </a:xfrm>
          <a:prstGeom prst="roundRect">
            <a:avLst>
              <a:gd name="adj" fmla="val 5581"/>
            </a:avLst>
          </a:prstGeom>
          <a:solidFill>
            <a:srgbClr val="0F1728"/>
          </a:solidFill>
          <a:ln w="12700">
            <a:solidFill>
              <a:srgbClr val="243352"/>
            </a:solidFill>
            <a:prstDash val="solid"/>
          </a:ln>
          <a:effectLst>
            <a:outerShdw sx="100000" sy="100000" kx="0" ky="0" algn="bl" rotWithShape="0" blurRad="101600" dist="25400" dir="5400000">
              <a:srgbClr val="000000">
                <a:alpha val="35000"/>
              </a:srgbClr>
            </a:outerShdw>
          </a:effectLst>
        </p:spPr>
      </p:sp>
      <p:sp>
        <p:nvSpPr>
          <p:cNvPr id="5" name="Shape 3"/>
          <p:cNvSpPr/>
          <p:nvPr/>
        </p:nvSpPr>
        <p:spPr>
          <a:xfrm>
            <a:off x="822960" y="2103120"/>
            <a:ext cx="566928" cy="566928"/>
          </a:xfrm>
          <a:prstGeom prst="ellipse">
            <a:avLst/>
          </a:prstGeom>
          <a:solidFill>
            <a:srgbClr val="2DD4BF">
              <a:alpha val="18000"/>
            </a:srgbClr>
          </a:solidFill>
          <a:ln w="12700">
            <a:solidFill>
              <a:srgbClr val="2DD4BF">
                <a:alpha val="45000"/>
              </a:srgbClr>
            </a:solidFill>
            <a:prstDash val="solid"/>
          </a:ln>
        </p:spPr>
      </p:sp>
      <p:pic>
        <p:nvPicPr>
          <p:cNvPr id="6" name="Image 0" descr="preencoded.png">    </p:cNvPr>
          <p:cNvPicPr>
            <a:picLocks noChangeAspect="1"/>
          </p:cNvPicPr>
          <p:nvPr/>
        </p:nvPicPr>
        <p:blipFill>
          <a:blip r:embed="rId1"/>
          <a:stretch>
            <a:fillRect/>
          </a:stretch>
        </p:blipFill>
        <p:spPr>
          <a:xfrm>
            <a:off x="959023" y="2239183"/>
            <a:ext cx="294803" cy="294803"/>
          </a:xfrm>
          <a:prstGeom prst="rect">
            <a:avLst/>
          </a:prstGeom>
        </p:spPr>
      </p:pic>
      <p:sp>
        <p:nvSpPr>
          <p:cNvPr id="7" name="Text 4"/>
          <p:cNvSpPr txBox="1"/>
          <p:nvPr/>
        </p:nvSpPr>
        <p:spPr>
          <a:xfrm>
            <a:off x="1554480" y="2130552"/>
            <a:ext cx="2377440" cy="548640"/>
          </a:xfrm>
          <a:prstGeom prst="rect">
            <a:avLst/>
          </a:prstGeom>
          <a:noFill/>
          <a:ln/>
        </p:spPr>
        <p:txBody>
          <a:bodyPr wrap="square" lIns="0" tIns="0" rIns="0" bIns="0" rtlCol="0" anchor="ctr"/>
          <a:lstStyle/>
          <a:p>
            <a:pPr indent="0" marL="0">
              <a:buNone/>
            </a:pPr>
            <a:r>
              <a:rPr lang="en-US" sz="1700" b="1" dirty="0">
                <a:solidFill>
                  <a:srgbClr val="E7ECF5"/>
                </a:solidFill>
                <a:latin typeface="Calibri" pitchFamily="34" charset="0"/>
                <a:ea typeface="Calibri" pitchFamily="34" charset="-122"/>
                <a:cs typeface="Calibri" pitchFamily="34" charset="-120"/>
              </a:rPr>
              <a:t>Natural-language → plan</a:t>
            </a:r>
            <a:endParaRPr lang="en-US" sz="1700" dirty="0"/>
          </a:p>
        </p:txBody>
      </p:sp>
      <p:sp>
        <p:nvSpPr>
          <p:cNvPr id="8" name="Text 5"/>
          <p:cNvSpPr txBox="1"/>
          <p:nvPr/>
        </p:nvSpPr>
        <p:spPr>
          <a:xfrm>
            <a:off x="822960" y="2834640"/>
            <a:ext cx="3017520" cy="822960"/>
          </a:xfrm>
          <a:prstGeom prst="rect">
            <a:avLst/>
          </a:prstGeom>
          <a:noFill/>
          <a:ln/>
        </p:spPr>
        <p:txBody>
          <a:bodyPr wrap="square" lIns="0" tIns="0" rIns="0" bIns="0" rtlCol="0" anchor="t"/>
          <a:lstStyle/>
          <a:p>
            <a:pPr indent="0" marL="0">
              <a:buNone/>
            </a:pPr>
            <a:r>
              <a:rPr lang="en-US" sz="1300" dirty="0">
                <a:solidFill>
                  <a:srgbClr val="94A3B8"/>
                </a:solidFill>
                <a:latin typeface="Calibri" pitchFamily="34" charset="0"/>
                <a:ea typeface="Calibri" pitchFamily="34" charset="-122"/>
                <a:cs typeface="Calibri" pitchFamily="34" charset="-120"/>
              </a:rPr>
              <a:t>Entity, typed fields, filters, search region and queries — editable before running.</a:t>
            </a:r>
            <a:endParaRPr lang="en-US" sz="1300" dirty="0"/>
          </a:p>
        </p:txBody>
      </p:sp>
      <p:sp>
        <p:nvSpPr>
          <p:cNvPr id="9" name="Shape 6"/>
          <p:cNvSpPr/>
          <p:nvPr/>
        </p:nvSpPr>
        <p:spPr>
          <a:xfrm>
            <a:off x="4297680" y="1828800"/>
            <a:ext cx="3520440" cy="1965960"/>
          </a:xfrm>
          <a:prstGeom prst="roundRect">
            <a:avLst>
              <a:gd name="adj" fmla="val 5581"/>
            </a:avLst>
          </a:prstGeom>
          <a:solidFill>
            <a:srgbClr val="0F1728"/>
          </a:solidFill>
          <a:ln w="12700">
            <a:solidFill>
              <a:srgbClr val="243352"/>
            </a:solidFill>
            <a:prstDash val="solid"/>
          </a:ln>
          <a:effectLst>
            <a:outerShdw sx="100000" sy="100000" kx="0" ky="0" algn="bl" rotWithShape="0" blurRad="101600" dist="25400" dir="5400000">
              <a:srgbClr val="000000">
                <a:alpha val="35000"/>
              </a:srgbClr>
            </a:outerShdw>
          </a:effectLst>
        </p:spPr>
      </p:sp>
      <p:sp>
        <p:nvSpPr>
          <p:cNvPr id="10" name="Shape 7"/>
          <p:cNvSpPr/>
          <p:nvPr/>
        </p:nvSpPr>
        <p:spPr>
          <a:xfrm>
            <a:off x="4572000" y="2103120"/>
            <a:ext cx="566928" cy="566928"/>
          </a:xfrm>
          <a:prstGeom prst="ellipse">
            <a:avLst/>
          </a:prstGeom>
          <a:solidFill>
            <a:srgbClr val="2DD4BF">
              <a:alpha val="18000"/>
            </a:srgbClr>
          </a:solidFill>
          <a:ln w="12700">
            <a:solidFill>
              <a:srgbClr val="2DD4BF">
                <a:alpha val="45000"/>
              </a:srgbClr>
            </a:solidFill>
            <a:prstDash val="solid"/>
          </a:ln>
        </p:spPr>
      </p:sp>
      <p:pic>
        <p:nvPicPr>
          <p:cNvPr id="11" name="Image 1" descr="preencoded.png">    </p:cNvPr>
          <p:cNvPicPr>
            <a:picLocks noChangeAspect="1"/>
          </p:cNvPicPr>
          <p:nvPr/>
        </p:nvPicPr>
        <p:blipFill>
          <a:blip r:embed="rId2"/>
          <a:stretch>
            <a:fillRect/>
          </a:stretch>
        </p:blipFill>
        <p:spPr>
          <a:xfrm>
            <a:off x="4708063" y="2239183"/>
            <a:ext cx="294803" cy="294803"/>
          </a:xfrm>
          <a:prstGeom prst="rect">
            <a:avLst/>
          </a:prstGeom>
        </p:spPr>
      </p:pic>
      <p:sp>
        <p:nvSpPr>
          <p:cNvPr id="12" name="Text 8"/>
          <p:cNvSpPr txBox="1"/>
          <p:nvPr/>
        </p:nvSpPr>
        <p:spPr>
          <a:xfrm>
            <a:off x="5303520" y="2130552"/>
            <a:ext cx="2377440" cy="548640"/>
          </a:xfrm>
          <a:prstGeom prst="rect">
            <a:avLst/>
          </a:prstGeom>
          <a:noFill/>
          <a:ln/>
        </p:spPr>
        <p:txBody>
          <a:bodyPr wrap="square" lIns="0" tIns="0" rIns="0" bIns="0" rtlCol="0" anchor="ctr"/>
          <a:lstStyle/>
          <a:p>
            <a:pPr indent="0" marL="0">
              <a:buNone/>
            </a:pPr>
            <a:r>
              <a:rPr lang="en-US" sz="1700" b="1" dirty="0">
                <a:solidFill>
                  <a:srgbClr val="E7ECF5"/>
                </a:solidFill>
                <a:latin typeface="Calibri" pitchFamily="34" charset="0"/>
                <a:ea typeface="Calibri" pitchFamily="34" charset="-122"/>
                <a:cs typeface="Calibri" pitchFamily="34" charset="-120"/>
              </a:rPr>
              <a:t>Dynamic live workflow</a:t>
            </a:r>
            <a:endParaRPr lang="en-US" sz="1700" dirty="0"/>
          </a:p>
        </p:txBody>
      </p:sp>
      <p:sp>
        <p:nvSpPr>
          <p:cNvPr id="13" name="Text 9"/>
          <p:cNvSpPr txBox="1"/>
          <p:nvPr/>
        </p:nvSpPr>
        <p:spPr>
          <a:xfrm>
            <a:off x="4572000" y="2834640"/>
            <a:ext cx="3017520" cy="822960"/>
          </a:xfrm>
          <a:prstGeom prst="rect">
            <a:avLst/>
          </a:prstGeom>
          <a:noFill/>
          <a:ln/>
        </p:spPr>
        <p:txBody>
          <a:bodyPr wrap="square" lIns="0" tIns="0" rIns="0" bIns="0" rtlCol="0" anchor="t"/>
          <a:lstStyle/>
          <a:p>
            <a:pPr indent="0" marL="0">
              <a:buNone/>
            </a:pPr>
            <a:r>
              <a:rPr lang="en-US" sz="1300" dirty="0">
                <a:solidFill>
                  <a:srgbClr val="94A3B8"/>
                </a:solidFill>
                <a:latin typeface="Calibri" pitchFamily="34" charset="0"/>
                <a:ea typeface="Calibri" pitchFamily="34" charset="-122"/>
                <a:cs typeface="Calibri" pitchFamily="34" charset="-120"/>
              </a:rPr>
              <a:t>Per-request pipeline shown as a live graph over SSE, with a gap-fill loop.</a:t>
            </a:r>
            <a:endParaRPr lang="en-US" sz="1300" dirty="0"/>
          </a:p>
        </p:txBody>
      </p:sp>
      <p:sp>
        <p:nvSpPr>
          <p:cNvPr id="14" name="Shape 10"/>
          <p:cNvSpPr/>
          <p:nvPr/>
        </p:nvSpPr>
        <p:spPr>
          <a:xfrm>
            <a:off x="8046720" y="1828800"/>
            <a:ext cx="3520440" cy="1965960"/>
          </a:xfrm>
          <a:prstGeom prst="roundRect">
            <a:avLst>
              <a:gd name="adj" fmla="val 5581"/>
            </a:avLst>
          </a:prstGeom>
          <a:solidFill>
            <a:srgbClr val="0F1728"/>
          </a:solidFill>
          <a:ln w="12700">
            <a:solidFill>
              <a:srgbClr val="243352"/>
            </a:solidFill>
            <a:prstDash val="solid"/>
          </a:ln>
          <a:effectLst>
            <a:outerShdw sx="100000" sy="100000" kx="0" ky="0" algn="bl" rotWithShape="0" blurRad="101600" dist="25400" dir="5400000">
              <a:srgbClr val="000000">
                <a:alpha val="35000"/>
              </a:srgbClr>
            </a:outerShdw>
          </a:effectLst>
        </p:spPr>
      </p:sp>
      <p:sp>
        <p:nvSpPr>
          <p:cNvPr id="15" name="Shape 11"/>
          <p:cNvSpPr/>
          <p:nvPr/>
        </p:nvSpPr>
        <p:spPr>
          <a:xfrm>
            <a:off x="8321040" y="2103120"/>
            <a:ext cx="566928" cy="566928"/>
          </a:xfrm>
          <a:prstGeom prst="ellipse">
            <a:avLst/>
          </a:prstGeom>
          <a:solidFill>
            <a:srgbClr val="2DD4BF">
              <a:alpha val="18000"/>
            </a:srgbClr>
          </a:solidFill>
          <a:ln w="12700">
            <a:solidFill>
              <a:srgbClr val="2DD4BF">
                <a:alpha val="45000"/>
              </a:srgbClr>
            </a:solidFill>
            <a:prstDash val="solid"/>
          </a:ln>
        </p:spPr>
      </p:sp>
      <p:pic>
        <p:nvPicPr>
          <p:cNvPr id="16" name="Image 2" descr="preencoded.png">    </p:cNvPr>
          <p:cNvPicPr>
            <a:picLocks noChangeAspect="1"/>
          </p:cNvPicPr>
          <p:nvPr/>
        </p:nvPicPr>
        <p:blipFill>
          <a:blip r:embed="rId3"/>
          <a:stretch>
            <a:fillRect/>
          </a:stretch>
        </p:blipFill>
        <p:spPr>
          <a:xfrm>
            <a:off x="8457103" y="2239183"/>
            <a:ext cx="294803" cy="294803"/>
          </a:xfrm>
          <a:prstGeom prst="rect">
            <a:avLst/>
          </a:prstGeom>
        </p:spPr>
      </p:pic>
      <p:sp>
        <p:nvSpPr>
          <p:cNvPr id="17" name="Text 12"/>
          <p:cNvSpPr txBox="1"/>
          <p:nvPr/>
        </p:nvSpPr>
        <p:spPr>
          <a:xfrm>
            <a:off x="9052560" y="2130552"/>
            <a:ext cx="2377440" cy="548640"/>
          </a:xfrm>
          <a:prstGeom prst="rect">
            <a:avLst/>
          </a:prstGeom>
          <a:noFill/>
          <a:ln/>
        </p:spPr>
        <p:txBody>
          <a:bodyPr wrap="square" lIns="0" tIns="0" rIns="0" bIns="0" rtlCol="0" anchor="ctr"/>
          <a:lstStyle/>
          <a:p>
            <a:pPr indent="0" marL="0">
              <a:buNone/>
            </a:pPr>
            <a:r>
              <a:rPr lang="en-US" sz="1700" b="1" dirty="0">
                <a:solidFill>
                  <a:srgbClr val="E7ECF5"/>
                </a:solidFill>
                <a:latin typeface="Calibri" pitchFamily="34" charset="0"/>
                <a:ea typeface="Calibri" pitchFamily="34" charset="-122"/>
                <a:cs typeface="Calibri" pitchFamily="34" charset="-120"/>
              </a:rPr>
              <a:t>Permitted sources only</a:t>
            </a:r>
            <a:endParaRPr lang="en-US" sz="1700" dirty="0"/>
          </a:p>
        </p:txBody>
      </p:sp>
      <p:sp>
        <p:nvSpPr>
          <p:cNvPr id="18" name="Text 13"/>
          <p:cNvSpPr txBox="1"/>
          <p:nvPr/>
        </p:nvSpPr>
        <p:spPr>
          <a:xfrm>
            <a:off x="8321040" y="2834640"/>
            <a:ext cx="3017520" cy="822960"/>
          </a:xfrm>
          <a:prstGeom prst="rect">
            <a:avLst/>
          </a:prstGeom>
          <a:noFill/>
          <a:ln/>
        </p:spPr>
        <p:txBody>
          <a:bodyPr wrap="square" lIns="0" tIns="0" rIns="0" bIns="0" rtlCol="0" anchor="t"/>
          <a:lstStyle/>
          <a:p>
            <a:pPr indent="0" marL="0">
              <a:buNone/>
            </a:pPr>
            <a:r>
              <a:rPr lang="en-US" sz="1300" dirty="0">
                <a:solidFill>
                  <a:srgbClr val="94A3B8"/>
                </a:solidFill>
                <a:latin typeface="Calibri" pitchFamily="34" charset="0"/>
                <a:ea typeface="Calibri" pitchFamily="34" charset="-122"/>
                <a:cs typeface="Calibri" pitchFamily="34" charset="-120"/>
              </a:rPr>
              <a:t>robots.txt per page (RFC 9309); social, login-only and ad links always blocked.</a:t>
            </a:r>
            <a:endParaRPr lang="en-US" sz="1300" dirty="0"/>
          </a:p>
        </p:txBody>
      </p:sp>
      <p:sp>
        <p:nvSpPr>
          <p:cNvPr id="19" name="Shape 14"/>
          <p:cNvSpPr/>
          <p:nvPr/>
        </p:nvSpPr>
        <p:spPr>
          <a:xfrm>
            <a:off x="548640" y="4023360"/>
            <a:ext cx="3520440" cy="1965960"/>
          </a:xfrm>
          <a:prstGeom prst="roundRect">
            <a:avLst>
              <a:gd name="adj" fmla="val 5581"/>
            </a:avLst>
          </a:prstGeom>
          <a:solidFill>
            <a:srgbClr val="0F1728"/>
          </a:solidFill>
          <a:ln w="12700">
            <a:solidFill>
              <a:srgbClr val="243352"/>
            </a:solidFill>
            <a:prstDash val="solid"/>
          </a:ln>
          <a:effectLst>
            <a:outerShdw sx="100000" sy="100000" kx="0" ky="0" algn="bl" rotWithShape="0" blurRad="101600" dist="25400" dir="5400000">
              <a:srgbClr val="000000">
                <a:alpha val="35000"/>
              </a:srgbClr>
            </a:outerShdw>
          </a:effectLst>
        </p:spPr>
      </p:sp>
      <p:sp>
        <p:nvSpPr>
          <p:cNvPr id="20" name="Shape 15"/>
          <p:cNvSpPr/>
          <p:nvPr/>
        </p:nvSpPr>
        <p:spPr>
          <a:xfrm>
            <a:off x="822960" y="4297680"/>
            <a:ext cx="566928" cy="566928"/>
          </a:xfrm>
          <a:prstGeom prst="ellipse">
            <a:avLst/>
          </a:prstGeom>
          <a:solidFill>
            <a:srgbClr val="2DD4BF">
              <a:alpha val="18000"/>
            </a:srgbClr>
          </a:solidFill>
          <a:ln w="12700">
            <a:solidFill>
              <a:srgbClr val="2DD4BF">
                <a:alpha val="45000"/>
              </a:srgbClr>
            </a:solidFill>
            <a:prstDash val="solid"/>
          </a:ln>
        </p:spPr>
      </p:sp>
      <p:pic>
        <p:nvPicPr>
          <p:cNvPr id="21" name="Image 3" descr="preencoded.png">    </p:cNvPr>
          <p:cNvPicPr>
            <a:picLocks noChangeAspect="1"/>
          </p:cNvPicPr>
          <p:nvPr/>
        </p:nvPicPr>
        <p:blipFill>
          <a:blip r:embed="rId4"/>
          <a:stretch>
            <a:fillRect/>
          </a:stretch>
        </p:blipFill>
        <p:spPr>
          <a:xfrm>
            <a:off x="959023" y="4433743"/>
            <a:ext cx="294803" cy="294803"/>
          </a:xfrm>
          <a:prstGeom prst="rect">
            <a:avLst/>
          </a:prstGeom>
        </p:spPr>
      </p:pic>
      <p:sp>
        <p:nvSpPr>
          <p:cNvPr id="22" name="Text 16"/>
          <p:cNvSpPr txBox="1"/>
          <p:nvPr/>
        </p:nvSpPr>
        <p:spPr>
          <a:xfrm>
            <a:off x="1554480" y="4325112"/>
            <a:ext cx="2377440" cy="548640"/>
          </a:xfrm>
          <a:prstGeom prst="rect">
            <a:avLst/>
          </a:prstGeom>
          <a:noFill/>
          <a:ln/>
        </p:spPr>
        <p:txBody>
          <a:bodyPr wrap="square" lIns="0" tIns="0" rIns="0" bIns="0" rtlCol="0" anchor="ctr"/>
          <a:lstStyle/>
          <a:p>
            <a:pPr indent="0" marL="0">
              <a:buNone/>
            </a:pPr>
            <a:r>
              <a:rPr lang="en-US" sz="1700" b="1" dirty="0">
                <a:solidFill>
                  <a:srgbClr val="E7ECF5"/>
                </a:solidFill>
                <a:latin typeface="Calibri" pitchFamily="34" charset="0"/>
                <a:ea typeface="Calibri" pitchFamily="34" charset="-122"/>
                <a:cs typeface="Calibri" pitchFamily="34" charset="-120"/>
              </a:rPr>
              <a:t>Clean · validate · dedupe</a:t>
            </a:r>
            <a:endParaRPr lang="en-US" sz="1700" dirty="0"/>
          </a:p>
        </p:txBody>
      </p:sp>
      <p:sp>
        <p:nvSpPr>
          <p:cNvPr id="23" name="Text 17"/>
          <p:cNvSpPr txBox="1"/>
          <p:nvPr/>
        </p:nvSpPr>
        <p:spPr>
          <a:xfrm>
            <a:off x="822960" y="5029200"/>
            <a:ext cx="3017520" cy="822960"/>
          </a:xfrm>
          <a:prstGeom prst="rect">
            <a:avLst/>
          </a:prstGeom>
          <a:noFill/>
          <a:ln/>
        </p:spPr>
        <p:txBody>
          <a:bodyPr wrap="square" lIns="0" tIns="0" rIns="0" bIns="0" rtlCol="0" anchor="t"/>
          <a:lstStyle/>
          <a:p>
            <a:pPr indent="0" marL="0">
              <a:buNone/>
            </a:pPr>
            <a:r>
              <a:rPr lang="en-US" sz="1300" dirty="0">
                <a:solidFill>
                  <a:srgbClr val="94A3B8"/>
                </a:solidFill>
                <a:latin typeface="Calibri" pitchFamily="34" charset="0"/>
                <a:ea typeface="Calibri" pitchFamily="34" charset="-122"/>
                <a:cs typeface="Calibri" pitchFamily="34" charset="-120"/>
              </a:rPr>
              <a:t>Type coercion for numbers, money, URLs and dates; fuzzy entity merging.</a:t>
            </a:r>
            <a:endParaRPr lang="en-US" sz="1300" dirty="0"/>
          </a:p>
        </p:txBody>
      </p:sp>
      <p:sp>
        <p:nvSpPr>
          <p:cNvPr id="24" name="Shape 18"/>
          <p:cNvSpPr/>
          <p:nvPr/>
        </p:nvSpPr>
        <p:spPr>
          <a:xfrm>
            <a:off x="4297680" y="4023360"/>
            <a:ext cx="3520440" cy="1965960"/>
          </a:xfrm>
          <a:prstGeom prst="roundRect">
            <a:avLst>
              <a:gd name="adj" fmla="val 5581"/>
            </a:avLst>
          </a:prstGeom>
          <a:solidFill>
            <a:srgbClr val="0F1728"/>
          </a:solidFill>
          <a:ln w="12700">
            <a:solidFill>
              <a:srgbClr val="243352"/>
            </a:solidFill>
            <a:prstDash val="solid"/>
          </a:ln>
          <a:effectLst>
            <a:outerShdw sx="100000" sy="100000" kx="0" ky="0" algn="bl" rotWithShape="0" blurRad="101600" dist="25400" dir="5400000">
              <a:srgbClr val="000000">
                <a:alpha val="35000"/>
              </a:srgbClr>
            </a:outerShdw>
          </a:effectLst>
        </p:spPr>
      </p:sp>
      <p:sp>
        <p:nvSpPr>
          <p:cNvPr id="25" name="Shape 19"/>
          <p:cNvSpPr/>
          <p:nvPr/>
        </p:nvSpPr>
        <p:spPr>
          <a:xfrm>
            <a:off x="4572000" y="4297680"/>
            <a:ext cx="566928" cy="566928"/>
          </a:xfrm>
          <a:prstGeom prst="ellipse">
            <a:avLst/>
          </a:prstGeom>
          <a:solidFill>
            <a:srgbClr val="2DD4BF">
              <a:alpha val="18000"/>
            </a:srgbClr>
          </a:solidFill>
          <a:ln w="12700">
            <a:solidFill>
              <a:srgbClr val="2DD4BF">
                <a:alpha val="45000"/>
              </a:srgbClr>
            </a:solidFill>
            <a:prstDash val="solid"/>
          </a:ln>
        </p:spPr>
      </p:sp>
      <p:pic>
        <p:nvPicPr>
          <p:cNvPr id="26" name="Image 4" descr="preencoded.png">    </p:cNvPr>
          <p:cNvPicPr>
            <a:picLocks noChangeAspect="1"/>
          </p:cNvPicPr>
          <p:nvPr/>
        </p:nvPicPr>
        <p:blipFill>
          <a:blip r:embed="rId5"/>
          <a:stretch>
            <a:fillRect/>
          </a:stretch>
        </p:blipFill>
        <p:spPr>
          <a:xfrm>
            <a:off x="4708063" y="4433743"/>
            <a:ext cx="294803" cy="294803"/>
          </a:xfrm>
          <a:prstGeom prst="rect">
            <a:avLst/>
          </a:prstGeom>
        </p:spPr>
      </p:pic>
      <p:sp>
        <p:nvSpPr>
          <p:cNvPr id="27" name="Text 20"/>
          <p:cNvSpPr txBox="1"/>
          <p:nvPr/>
        </p:nvSpPr>
        <p:spPr>
          <a:xfrm>
            <a:off x="5303520" y="4325112"/>
            <a:ext cx="2377440" cy="548640"/>
          </a:xfrm>
          <a:prstGeom prst="rect">
            <a:avLst/>
          </a:prstGeom>
          <a:noFill/>
          <a:ln/>
        </p:spPr>
        <p:txBody>
          <a:bodyPr wrap="square" lIns="0" tIns="0" rIns="0" bIns="0" rtlCol="0" anchor="ctr"/>
          <a:lstStyle/>
          <a:p>
            <a:pPr indent="0" marL="0">
              <a:buNone/>
            </a:pPr>
            <a:r>
              <a:rPr lang="en-US" sz="1700" b="1" dirty="0">
                <a:solidFill>
                  <a:srgbClr val="E7ECF5"/>
                </a:solidFill>
                <a:latin typeface="Calibri" pitchFamily="34" charset="0"/>
                <a:ea typeface="Calibri" pitchFamily="34" charset="-122"/>
                <a:cs typeface="Calibri" pitchFamily="34" charset="-120"/>
              </a:rPr>
              <a:t>Dashboard &amp; export</a:t>
            </a:r>
            <a:endParaRPr lang="en-US" sz="1700" dirty="0"/>
          </a:p>
        </p:txBody>
      </p:sp>
      <p:sp>
        <p:nvSpPr>
          <p:cNvPr id="28" name="Text 21"/>
          <p:cNvSpPr txBox="1"/>
          <p:nvPr/>
        </p:nvSpPr>
        <p:spPr>
          <a:xfrm>
            <a:off x="4572000" y="5029200"/>
            <a:ext cx="3017520" cy="822960"/>
          </a:xfrm>
          <a:prstGeom prst="rect">
            <a:avLst/>
          </a:prstGeom>
          <a:noFill/>
          <a:ln/>
        </p:spPr>
        <p:txBody>
          <a:bodyPr wrap="square" lIns="0" tIns="0" rIns="0" bIns="0" rtlCol="0" anchor="t"/>
          <a:lstStyle/>
          <a:p>
            <a:pPr indent="0" marL="0">
              <a:buNone/>
            </a:pPr>
            <a:r>
              <a:rPr lang="en-US" sz="1300" dirty="0">
                <a:solidFill>
                  <a:srgbClr val="94A3B8"/>
                </a:solidFill>
                <a:latin typeface="Calibri" pitchFamily="34" charset="0"/>
                <a:ea typeface="Calibri" pitchFamily="34" charset="-122"/>
                <a:cs typeface="Calibri" pitchFamily="34" charset="-120"/>
              </a:rPr>
              <a:t>Per-cell trust markers, insights, filters; CSV, XLSX and JSON export.</a:t>
            </a:r>
            <a:endParaRPr lang="en-US" sz="1300" dirty="0"/>
          </a:p>
        </p:txBody>
      </p:sp>
      <p:sp>
        <p:nvSpPr>
          <p:cNvPr id="29" name="Shape 22"/>
          <p:cNvSpPr/>
          <p:nvPr/>
        </p:nvSpPr>
        <p:spPr>
          <a:xfrm>
            <a:off x="8046720" y="4023360"/>
            <a:ext cx="3520440" cy="1965960"/>
          </a:xfrm>
          <a:prstGeom prst="roundRect">
            <a:avLst>
              <a:gd name="adj" fmla="val 5581"/>
            </a:avLst>
          </a:prstGeom>
          <a:solidFill>
            <a:srgbClr val="0F1728"/>
          </a:solidFill>
          <a:ln w="12700">
            <a:solidFill>
              <a:srgbClr val="243352"/>
            </a:solidFill>
            <a:prstDash val="solid"/>
          </a:ln>
          <a:effectLst>
            <a:outerShdw sx="100000" sy="100000" kx="0" ky="0" algn="bl" rotWithShape="0" blurRad="101600" dist="25400" dir="5400000">
              <a:srgbClr val="000000">
                <a:alpha val="35000"/>
              </a:srgbClr>
            </a:outerShdw>
          </a:effectLst>
        </p:spPr>
      </p:sp>
      <p:sp>
        <p:nvSpPr>
          <p:cNvPr id="30" name="Shape 23"/>
          <p:cNvSpPr/>
          <p:nvPr/>
        </p:nvSpPr>
        <p:spPr>
          <a:xfrm>
            <a:off x="8321040" y="4297680"/>
            <a:ext cx="566928" cy="566928"/>
          </a:xfrm>
          <a:prstGeom prst="ellipse">
            <a:avLst/>
          </a:prstGeom>
          <a:solidFill>
            <a:srgbClr val="2DD4BF">
              <a:alpha val="18000"/>
            </a:srgbClr>
          </a:solidFill>
          <a:ln w="12700">
            <a:solidFill>
              <a:srgbClr val="2DD4BF">
                <a:alpha val="45000"/>
              </a:srgbClr>
            </a:solidFill>
            <a:prstDash val="solid"/>
          </a:ln>
        </p:spPr>
      </p:sp>
      <p:pic>
        <p:nvPicPr>
          <p:cNvPr id="31" name="Image 5" descr="preencoded.png">    </p:cNvPr>
          <p:cNvPicPr>
            <a:picLocks noChangeAspect="1"/>
          </p:cNvPicPr>
          <p:nvPr/>
        </p:nvPicPr>
        <p:blipFill>
          <a:blip r:embed="rId6"/>
          <a:stretch>
            <a:fillRect/>
          </a:stretch>
        </p:blipFill>
        <p:spPr>
          <a:xfrm>
            <a:off x="8457103" y="4433743"/>
            <a:ext cx="294803" cy="294803"/>
          </a:xfrm>
          <a:prstGeom prst="rect">
            <a:avLst/>
          </a:prstGeom>
        </p:spPr>
      </p:pic>
      <p:sp>
        <p:nvSpPr>
          <p:cNvPr id="32" name="Text 24"/>
          <p:cNvSpPr txBox="1"/>
          <p:nvPr/>
        </p:nvSpPr>
        <p:spPr>
          <a:xfrm>
            <a:off x="9052560" y="4325112"/>
            <a:ext cx="2377440" cy="548640"/>
          </a:xfrm>
          <a:prstGeom prst="rect">
            <a:avLst/>
          </a:prstGeom>
          <a:noFill/>
          <a:ln/>
        </p:spPr>
        <p:txBody>
          <a:bodyPr wrap="square" lIns="0" tIns="0" rIns="0" bIns="0" rtlCol="0" anchor="ctr"/>
          <a:lstStyle/>
          <a:p>
            <a:pPr indent="0" marL="0">
              <a:buNone/>
            </a:pPr>
            <a:r>
              <a:rPr lang="en-US" sz="1700" b="1" dirty="0">
                <a:solidFill>
                  <a:srgbClr val="E7ECF5"/>
                </a:solidFill>
                <a:latin typeface="Calibri" pitchFamily="34" charset="0"/>
                <a:ea typeface="Calibri" pitchFamily="34" charset="-122"/>
                <a:cs typeface="Calibri" pitchFamily="34" charset="-120"/>
              </a:rPr>
              <a:t>History, diff &amp; replay</a:t>
            </a:r>
            <a:endParaRPr lang="en-US" sz="1700" dirty="0"/>
          </a:p>
        </p:txBody>
      </p:sp>
      <p:sp>
        <p:nvSpPr>
          <p:cNvPr id="33" name="Text 25"/>
          <p:cNvSpPr txBox="1"/>
          <p:nvPr/>
        </p:nvSpPr>
        <p:spPr>
          <a:xfrm>
            <a:off x="8321040" y="5029200"/>
            <a:ext cx="3017520" cy="822960"/>
          </a:xfrm>
          <a:prstGeom prst="rect">
            <a:avLst/>
          </a:prstGeom>
          <a:noFill/>
          <a:ln/>
        </p:spPr>
        <p:txBody>
          <a:bodyPr wrap="square" lIns="0" tIns="0" rIns="0" bIns="0" rtlCol="0" anchor="t"/>
          <a:lstStyle/>
          <a:p>
            <a:pPr indent="0" marL="0">
              <a:buNone/>
            </a:pPr>
            <a:r>
              <a:rPr lang="en-US" sz="1300" dirty="0">
                <a:solidFill>
                  <a:srgbClr val="94A3B8"/>
                </a:solidFill>
                <a:latin typeface="Calibri" pitchFamily="34" charset="0"/>
                <a:ea typeface="Calibri" pitchFamily="34" charset="-122"/>
                <a:cs typeface="Calibri" pitchFamily="34" charset="-120"/>
              </a:rPr>
              <a:t>Every run stored; re-run and compare (+new / ~changed / −removed); replay offline.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60A13"/>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600" b="1" dirty="0">
                <a:solidFill>
                  <a:srgbClr val="E7ECF5"/>
                </a:solidFill>
                <a:latin typeface="Calibri" pitchFamily="34" charset="0"/>
                <a:ea typeface="Calibri" pitchFamily="34" charset="-122"/>
                <a:cs typeface="Calibri" pitchFamily="34" charset="-120"/>
              </a:rPr>
              <a:t>Built on a lean, free stack</a:t>
            </a:r>
            <a:endParaRPr lang="en-US" sz="3600" dirty="0"/>
          </a:p>
        </p:txBody>
      </p:sp>
      <p:sp>
        <p:nvSpPr>
          <p:cNvPr id="3" name="Text 1"/>
          <p:cNvSpPr txBox="1"/>
          <p:nvPr/>
        </p:nvSpPr>
        <p:spPr>
          <a:xfrm>
            <a:off x="548640" y="1115568"/>
            <a:ext cx="11064240" cy="411480"/>
          </a:xfrm>
          <a:prstGeom prst="rect">
            <a:avLst/>
          </a:prstGeom>
          <a:noFill/>
          <a:ln/>
        </p:spPr>
        <p:txBody>
          <a:bodyPr wrap="square" lIns="0" tIns="0" rIns="0" bIns="0" rtlCol="0" anchor="ctr"/>
          <a:lstStyle/>
          <a:p>
            <a:pPr indent="0" marL="0">
              <a:buNone/>
            </a:pPr>
            <a:r>
              <a:rPr lang="en-US" sz="1600" dirty="0">
                <a:solidFill>
                  <a:srgbClr val="94A3B8"/>
                </a:solidFill>
                <a:latin typeface="Calibri" pitchFamily="34" charset="0"/>
                <a:ea typeface="Calibri" pitchFamily="34" charset="-122"/>
                <a:cs typeface="Calibri" pitchFamily="34" charset="-120"/>
              </a:rPr>
              <a:t>Designed to run end to end on free tiers — with caching so repeat runs cost almost nothing.</a:t>
            </a:r>
            <a:endParaRPr lang="en-US" sz="1600" dirty="0"/>
          </a:p>
        </p:txBody>
      </p:sp>
      <p:sp>
        <p:nvSpPr>
          <p:cNvPr id="4" name="Shape 2"/>
          <p:cNvSpPr/>
          <p:nvPr/>
        </p:nvSpPr>
        <p:spPr>
          <a:xfrm>
            <a:off x="548640" y="1828800"/>
            <a:ext cx="2606040" cy="3246120"/>
          </a:xfrm>
          <a:prstGeom prst="roundRect">
            <a:avLst>
              <a:gd name="adj" fmla="val 4211"/>
            </a:avLst>
          </a:prstGeom>
          <a:solidFill>
            <a:srgbClr val="0F1728"/>
          </a:solidFill>
          <a:ln w="12700">
            <a:solidFill>
              <a:srgbClr val="243352"/>
            </a:solidFill>
            <a:prstDash val="solid"/>
          </a:ln>
          <a:effectLst>
            <a:outerShdw sx="100000" sy="100000" kx="0" ky="0" algn="bl" rotWithShape="0" blurRad="101600" dist="25400" dir="5400000">
              <a:srgbClr val="000000">
                <a:alpha val="35000"/>
              </a:srgbClr>
            </a:outerShdw>
          </a:effectLst>
        </p:spPr>
      </p:sp>
      <p:sp>
        <p:nvSpPr>
          <p:cNvPr id="5" name="Shape 3"/>
          <p:cNvSpPr/>
          <p:nvPr/>
        </p:nvSpPr>
        <p:spPr>
          <a:xfrm>
            <a:off x="822960" y="2103120"/>
            <a:ext cx="603504" cy="603504"/>
          </a:xfrm>
          <a:prstGeom prst="ellipse">
            <a:avLst/>
          </a:prstGeom>
          <a:solidFill>
            <a:srgbClr val="2DD4BF">
              <a:alpha val="18000"/>
            </a:srgbClr>
          </a:solidFill>
          <a:ln w="12700">
            <a:solidFill>
              <a:srgbClr val="2DD4BF">
                <a:alpha val="45000"/>
              </a:srgbClr>
            </a:solidFill>
            <a:prstDash val="solid"/>
          </a:ln>
        </p:spPr>
      </p:sp>
      <p:pic>
        <p:nvPicPr>
          <p:cNvPr id="6" name="Image 0" descr="preencoded.png">    </p:cNvPr>
          <p:cNvPicPr>
            <a:picLocks noChangeAspect="1"/>
          </p:cNvPicPr>
          <p:nvPr/>
        </p:nvPicPr>
        <p:blipFill>
          <a:blip r:embed="rId1"/>
          <a:stretch>
            <a:fillRect/>
          </a:stretch>
        </p:blipFill>
        <p:spPr>
          <a:xfrm>
            <a:off x="967801" y="2247961"/>
            <a:ext cx="313822" cy="313822"/>
          </a:xfrm>
          <a:prstGeom prst="rect">
            <a:avLst/>
          </a:prstGeom>
        </p:spPr>
      </p:pic>
      <p:sp>
        <p:nvSpPr>
          <p:cNvPr id="7" name="Text 4"/>
          <p:cNvSpPr txBox="1"/>
          <p:nvPr/>
        </p:nvSpPr>
        <p:spPr>
          <a:xfrm>
            <a:off x="822960" y="2834640"/>
            <a:ext cx="2148840" cy="457200"/>
          </a:xfrm>
          <a:prstGeom prst="rect">
            <a:avLst/>
          </a:prstGeom>
          <a:noFill/>
          <a:ln/>
        </p:spPr>
        <p:txBody>
          <a:bodyPr wrap="square" lIns="0" tIns="0" rIns="0" bIns="0" rtlCol="0" anchor="ctr"/>
          <a:lstStyle/>
          <a:p>
            <a:pPr indent="0" marL="0">
              <a:buNone/>
            </a:pPr>
            <a:r>
              <a:rPr lang="en-US" sz="2000" b="1" dirty="0">
                <a:solidFill>
                  <a:srgbClr val="E7ECF5"/>
                </a:solidFill>
                <a:latin typeface="Calibri" pitchFamily="34" charset="0"/>
                <a:ea typeface="Calibri" pitchFamily="34" charset="-122"/>
                <a:cs typeface="Calibri" pitchFamily="34" charset="-120"/>
              </a:rPr>
              <a:t>Frontend</a:t>
            </a:r>
            <a:endParaRPr lang="en-US" sz="2000" dirty="0"/>
          </a:p>
        </p:txBody>
      </p:sp>
      <p:sp>
        <p:nvSpPr>
          <p:cNvPr id="8" name="Text 5"/>
          <p:cNvSpPr txBox="1"/>
          <p:nvPr/>
        </p:nvSpPr>
        <p:spPr>
          <a:xfrm>
            <a:off x="822960" y="3383280"/>
            <a:ext cx="2194560" cy="1554480"/>
          </a:xfrm>
          <a:prstGeom prst="rect">
            <a:avLst/>
          </a:prstGeom>
          <a:noFill/>
          <a:ln/>
        </p:spPr>
        <p:txBody>
          <a:bodyPr wrap="square" lIns="0" tIns="0" rIns="0" bIns="0" rtlCol="0" anchor="t"/>
          <a:lstStyle/>
          <a:p>
            <a:pPr marL="177800" indent="-177800">
              <a:spcAft>
                <a:spcPts val="800"/>
              </a:spcAft>
              <a:buSzPct val="100000"/>
              <a:buChar char="•"/>
            </a:pPr>
            <a:r>
              <a:rPr lang="en-US" sz="1350" dirty="0">
                <a:solidFill>
                  <a:srgbClr val="94A3B8"/>
                </a:solidFill>
                <a:latin typeface="Calibri" pitchFamily="34" charset="0"/>
                <a:ea typeface="Calibri" pitchFamily="34" charset="-122"/>
                <a:cs typeface="Calibri" pitchFamily="34" charset="-120"/>
              </a:rPr>
              <a:t>Next.js 15 · React 19</a:t>
            </a:r>
            <a:endParaRPr lang="en-US" sz="1350" dirty="0"/>
          </a:p>
          <a:p>
            <a:pPr marL="177800" indent="-177800">
              <a:spcAft>
                <a:spcPts val="800"/>
              </a:spcAft>
              <a:buSzPct val="100000"/>
              <a:buChar char="•"/>
            </a:pPr>
            <a:r>
              <a:rPr lang="en-US" sz="1350" dirty="0">
                <a:solidFill>
                  <a:srgbClr val="94A3B8"/>
                </a:solidFill>
                <a:latin typeface="Calibri" pitchFamily="34" charset="0"/>
                <a:ea typeface="Calibri" pitchFamily="34" charset="-122"/>
                <a:cs typeface="Calibri" pitchFamily="34" charset="-120"/>
              </a:rPr>
              <a:t>TypeScript · Tailwind v4</a:t>
            </a:r>
            <a:endParaRPr lang="en-US" sz="1350" dirty="0"/>
          </a:p>
          <a:p>
            <a:pPr marL="177800" indent="-177800">
              <a:spcAft>
                <a:spcPts val="800"/>
              </a:spcAft>
              <a:buSzPct val="100000"/>
              <a:buChar char="•"/>
            </a:pPr>
            <a:r>
              <a:rPr lang="en-US" sz="1350" dirty="0">
                <a:solidFill>
                  <a:srgbClr val="94A3B8"/>
                </a:solidFill>
                <a:latin typeface="Calibri" pitchFamily="34" charset="0"/>
                <a:ea typeface="Calibri" pitchFamily="34" charset="-122"/>
                <a:cs typeface="Calibri" pitchFamily="34" charset="-120"/>
              </a:rPr>
              <a:t>React Flow live graph</a:t>
            </a:r>
            <a:endParaRPr lang="en-US" sz="1350" dirty="0"/>
          </a:p>
          <a:p>
            <a:pPr marL="177800" indent="-177800">
              <a:spcAft>
                <a:spcPts val="800"/>
              </a:spcAft>
              <a:buSzPct val="100000"/>
              <a:buChar char="•"/>
            </a:pPr>
            <a:r>
              <a:rPr lang="en-US" sz="1350" dirty="0">
                <a:solidFill>
                  <a:srgbClr val="94A3B8"/>
                </a:solidFill>
                <a:latin typeface="Calibri" pitchFamily="34" charset="0"/>
                <a:ea typeface="Calibri" pitchFamily="34" charset="-122"/>
                <a:cs typeface="Calibri" pitchFamily="34" charset="-120"/>
              </a:rPr>
              <a:t>Auto-wakes a sleeping API</a:t>
            </a:r>
            <a:endParaRPr lang="en-US" sz="1350" dirty="0"/>
          </a:p>
        </p:txBody>
      </p:sp>
      <p:sp>
        <p:nvSpPr>
          <p:cNvPr id="9" name="Shape 6"/>
          <p:cNvSpPr/>
          <p:nvPr/>
        </p:nvSpPr>
        <p:spPr>
          <a:xfrm>
            <a:off x="3383280" y="1828800"/>
            <a:ext cx="2606040" cy="3246120"/>
          </a:xfrm>
          <a:prstGeom prst="roundRect">
            <a:avLst>
              <a:gd name="adj" fmla="val 4211"/>
            </a:avLst>
          </a:prstGeom>
          <a:solidFill>
            <a:srgbClr val="0F1728"/>
          </a:solidFill>
          <a:ln w="12700">
            <a:solidFill>
              <a:srgbClr val="243352"/>
            </a:solidFill>
            <a:prstDash val="solid"/>
          </a:ln>
          <a:effectLst>
            <a:outerShdw sx="100000" sy="100000" kx="0" ky="0" algn="bl" rotWithShape="0" blurRad="101600" dist="25400" dir="5400000">
              <a:srgbClr val="000000">
                <a:alpha val="35000"/>
              </a:srgbClr>
            </a:outerShdw>
          </a:effectLst>
        </p:spPr>
      </p:sp>
      <p:sp>
        <p:nvSpPr>
          <p:cNvPr id="10" name="Shape 7"/>
          <p:cNvSpPr/>
          <p:nvPr/>
        </p:nvSpPr>
        <p:spPr>
          <a:xfrm>
            <a:off x="3657600" y="2103120"/>
            <a:ext cx="603504" cy="603504"/>
          </a:xfrm>
          <a:prstGeom prst="ellipse">
            <a:avLst/>
          </a:prstGeom>
          <a:solidFill>
            <a:srgbClr val="2DD4BF">
              <a:alpha val="18000"/>
            </a:srgbClr>
          </a:solidFill>
          <a:ln w="12700">
            <a:solidFill>
              <a:srgbClr val="2DD4BF">
                <a:alpha val="45000"/>
              </a:srgbClr>
            </a:solidFill>
            <a:prstDash val="solid"/>
          </a:ln>
        </p:spPr>
      </p:sp>
      <p:pic>
        <p:nvPicPr>
          <p:cNvPr id="11" name="Image 1" descr="preencoded.png">    </p:cNvPr>
          <p:cNvPicPr>
            <a:picLocks noChangeAspect="1"/>
          </p:cNvPicPr>
          <p:nvPr/>
        </p:nvPicPr>
        <p:blipFill>
          <a:blip r:embed="rId2"/>
          <a:stretch>
            <a:fillRect/>
          </a:stretch>
        </p:blipFill>
        <p:spPr>
          <a:xfrm>
            <a:off x="3802441" y="2247961"/>
            <a:ext cx="313822" cy="313822"/>
          </a:xfrm>
          <a:prstGeom prst="rect">
            <a:avLst/>
          </a:prstGeom>
        </p:spPr>
      </p:pic>
      <p:sp>
        <p:nvSpPr>
          <p:cNvPr id="12" name="Text 8"/>
          <p:cNvSpPr txBox="1"/>
          <p:nvPr/>
        </p:nvSpPr>
        <p:spPr>
          <a:xfrm>
            <a:off x="3657600" y="2834640"/>
            <a:ext cx="2148840" cy="457200"/>
          </a:xfrm>
          <a:prstGeom prst="rect">
            <a:avLst/>
          </a:prstGeom>
          <a:noFill/>
          <a:ln/>
        </p:spPr>
        <p:txBody>
          <a:bodyPr wrap="square" lIns="0" tIns="0" rIns="0" bIns="0" rtlCol="0" anchor="ctr"/>
          <a:lstStyle/>
          <a:p>
            <a:pPr indent="0" marL="0">
              <a:buNone/>
            </a:pPr>
            <a:r>
              <a:rPr lang="en-US" sz="2000" b="1" dirty="0">
                <a:solidFill>
                  <a:srgbClr val="E7ECF5"/>
                </a:solidFill>
                <a:latin typeface="Calibri" pitchFamily="34" charset="0"/>
                <a:ea typeface="Calibri" pitchFamily="34" charset="-122"/>
                <a:cs typeface="Calibri" pitchFamily="34" charset="-120"/>
              </a:rPr>
              <a:t>Backend</a:t>
            </a:r>
            <a:endParaRPr lang="en-US" sz="2000" dirty="0"/>
          </a:p>
        </p:txBody>
      </p:sp>
      <p:sp>
        <p:nvSpPr>
          <p:cNvPr id="13" name="Text 9"/>
          <p:cNvSpPr txBox="1"/>
          <p:nvPr/>
        </p:nvSpPr>
        <p:spPr>
          <a:xfrm>
            <a:off x="3657600" y="3383280"/>
            <a:ext cx="2194560" cy="1554480"/>
          </a:xfrm>
          <a:prstGeom prst="rect">
            <a:avLst/>
          </a:prstGeom>
          <a:noFill/>
          <a:ln/>
        </p:spPr>
        <p:txBody>
          <a:bodyPr wrap="square" lIns="0" tIns="0" rIns="0" bIns="0" rtlCol="0" anchor="t"/>
          <a:lstStyle/>
          <a:p>
            <a:pPr marL="177800" indent="-177800">
              <a:spcAft>
                <a:spcPts val="800"/>
              </a:spcAft>
              <a:buSzPct val="100000"/>
              <a:buChar char="•"/>
            </a:pPr>
            <a:r>
              <a:rPr lang="en-US" sz="1350" dirty="0">
                <a:solidFill>
                  <a:srgbClr val="94A3B8"/>
                </a:solidFill>
                <a:latin typeface="Calibri" pitchFamily="34" charset="0"/>
                <a:ea typeface="Calibri" pitchFamily="34" charset="-122"/>
                <a:cs typeface="Calibri" pitchFamily="34" charset="-120"/>
              </a:rPr>
              <a:t>Python 3.12 · FastAPI</a:t>
            </a:r>
            <a:endParaRPr lang="en-US" sz="1350" dirty="0"/>
          </a:p>
          <a:p>
            <a:pPr marL="177800" indent="-177800">
              <a:spcAft>
                <a:spcPts val="800"/>
              </a:spcAft>
              <a:buSzPct val="100000"/>
              <a:buChar char="•"/>
            </a:pPr>
            <a:r>
              <a:rPr lang="en-US" sz="1350" dirty="0">
                <a:solidFill>
                  <a:srgbClr val="94A3B8"/>
                </a:solidFill>
                <a:latin typeface="Calibri" pitchFamily="34" charset="0"/>
                <a:ea typeface="Calibri" pitchFamily="34" charset="-122"/>
                <a:cs typeface="Calibri" pitchFamily="34" charset="-120"/>
              </a:rPr>
              <a:t>Async pipeline + SSE</a:t>
            </a:r>
            <a:endParaRPr lang="en-US" sz="1350" dirty="0"/>
          </a:p>
          <a:p>
            <a:pPr marL="177800" indent="-177800">
              <a:spcAft>
                <a:spcPts val="800"/>
              </a:spcAft>
              <a:buSzPct val="100000"/>
              <a:buChar char="•"/>
            </a:pPr>
            <a:r>
              <a:rPr lang="en-US" sz="1350" dirty="0">
                <a:solidFill>
                  <a:srgbClr val="94A3B8"/>
                </a:solidFill>
                <a:latin typeface="Calibri" pitchFamily="34" charset="0"/>
                <a:ea typeface="Calibri" pitchFamily="34" charset="-122"/>
                <a:cs typeface="Calibri" pitchFamily="34" charset="-120"/>
              </a:rPr>
              <a:t>Persisted, replayable events</a:t>
            </a:r>
            <a:endParaRPr lang="en-US" sz="1350" dirty="0"/>
          </a:p>
          <a:p>
            <a:pPr marL="177800" indent="-177800">
              <a:spcAft>
                <a:spcPts val="800"/>
              </a:spcAft>
              <a:buSzPct val="100000"/>
              <a:buChar char="•"/>
            </a:pPr>
            <a:r>
              <a:rPr lang="en-US" sz="1350" dirty="0">
                <a:solidFill>
                  <a:srgbClr val="94A3B8"/>
                </a:solidFill>
                <a:latin typeface="Calibri" pitchFamily="34" charset="0"/>
                <a:ea typeface="Calibri" pitchFamily="34" charset="-122"/>
                <a:cs typeface="Calibri" pitchFamily="34" charset="-120"/>
              </a:rPr>
              <a:t>46 offline tests</a:t>
            </a:r>
            <a:endParaRPr lang="en-US" sz="1350" dirty="0"/>
          </a:p>
        </p:txBody>
      </p:sp>
      <p:sp>
        <p:nvSpPr>
          <p:cNvPr id="14" name="Shape 10"/>
          <p:cNvSpPr/>
          <p:nvPr/>
        </p:nvSpPr>
        <p:spPr>
          <a:xfrm>
            <a:off x="6217920" y="1828800"/>
            <a:ext cx="2606040" cy="3246120"/>
          </a:xfrm>
          <a:prstGeom prst="roundRect">
            <a:avLst>
              <a:gd name="adj" fmla="val 4211"/>
            </a:avLst>
          </a:prstGeom>
          <a:solidFill>
            <a:srgbClr val="0F1728"/>
          </a:solidFill>
          <a:ln w="12700">
            <a:solidFill>
              <a:srgbClr val="243352"/>
            </a:solidFill>
            <a:prstDash val="solid"/>
          </a:ln>
          <a:effectLst>
            <a:outerShdw sx="100000" sy="100000" kx="0" ky="0" algn="bl" rotWithShape="0" blurRad="101600" dist="25400" dir="5400000">
              <a:srgbClr val="000000">
                <a:alpha val="35000"/>
              </a:srgbClr>
            </a:outerShdw>
          </a:effectLst>
        </p:spPr>
      </p:sp>
      <p:sp>
        <p:nvSpPr>
          <p:cNvPr id="15" name="Shape 11"/>
          <p:cNvSpPr/>
          <p:nvPr/>
        </p:nvSpPr>
        <p:spPr>
          <a:xfrm>
            <a:off x="6492240" y="2103120"/>
            <a:ext cx="603504" cy="603504"/>
          </a:xfrm>
          <a:prstGeom prst="ellipse">
            <a:avLst/>
          </a:prstGeom>
          <a:solidFill>
            <a:srgbClr val="2DD4BF">
              <a:alpha val="18000"/>
            </a:srgbClr>
          </a:solidFill>
          <a:ln w="12700">
            <a:solidFill>
              <a:srgbClr val="2DD4BF">
                <a:alpha val="45000"/>
              </a:srgbClr>
            </a:solidFill>
            <a:prstDash val="solid"/>
          </a:ln>
        </p:spPr>
      </p:sp>
      <p:pic>
        <p:nvPicPr>
          <p:cNvPr id="16" name="Image 2" descr="preencoded.png">    </p:cNvPr>
          <p:cNvPicPr>
            <a:picLocks noChangeAspect="1"/>
          </p:cNvPicPr>
          <p:nvPr/>
        </p:nvPicPr>
        <p:blipFill>
          <a:blip r:embed="rId3"/>
          <a:stretch>
            <a:fillRect/>
          </a:stretch>
        </p:blipFill>
        <p:spPr>
          <a:xfrm>
            <a:off x="6637081" y="2247961"/>
            <a:ext cx="313822" cy="313822"/>
          </a:xfrm>
          <a:prstGeom prst="rect">
            <a:avLst/>
          </a:prstGeom>
        </p:spPr>
      </p:pic>
      <p:sp>
        <p:nvSpPr>
          <p:cNvPr id="17" name="Text 12"/>
          <p:cNvSpPr txBox="1"/>
          <p:nvPr/>
        </p:nvSpPr>
        <p:spPr>
          <a:xfrm>
            <a:off x="6492240" y="2834640"/>
            <a:ext cx="2148840" cy="457200"/>
          </a:xfrm>
          <a:prstGeom prst="rect">
            <a:avLst/>
          </a:prstGeom>
          <a:noFill/>
          <a:ln/>
        </p:spPr>
        <p:txBody>
          <a:bodyPr wrap="square" lIns="0" tIns="0" rIns="0" bIns="0" rtlCol="0" anchor="ctr"/>
          <a:lstStyle/>
          <a:p>
            <a:pPr indent="0" marL="0">
              <a:buNone/>
            </a:pPr>
            <a:r>
              <a:rPr lang="en-US" sz="2000" b="1" dirty="0">
                <a:solidFill>
                  <a:srgbClr val="E7ECF5"/>
                </a:solidFill>
                <a:latin typeface="Calibri" pitchFamily="34" charset="0"/>
                <a:ea typeface="Calibri" pitchFamily="34" charset="-122"/>
                <a:cs typeface="Calibri" pitchFamily="34" charset="-120"/>
              </a:rPr>
              <a:t>AI</a:t>
            </a:r>
            <a:endParaRPr lang="en-US" sz="2000" dirty="0"/>
          </a:p>
        </p:txBody>
      </p:sp>
      <p:sp>
        <p:nvSpPr>
          <p:cNvPr id="18" name="Text 13"/>
          <p:cNvSpPr txBox="1"/>
          <p:nvPr/>
        </p:nvSpPr>
        <p:spPr>
          <a:xfrm>
            <a:off x="6492240" y="3383280"/>
            <a:ext cx="2194560" cy="1554480"/>
          </a:xfrm>
          <a:prstGeom prst="rect">
            <a:avLst/>
          </a:prstGeom>
          <a:noFill/>
          <a:ln/>
        </p:spPr>
        <p:txBody>
          <a:bodyPr wrap="square" lIns="0" tIns="0" rIns="0" bIns="0" rtlCol="0" anchor="t"/>
          <a:lstStyle/>
          <a:p>
            <a:pPr marL="177800" indent="-177800">
              <a:spcAft>
                <a:spcPts val="800"/>
              </a:spcAft>
              <a:buSzPct val="100000"/>
              <a:buChar char="•"/>
            </a:pPr>
            <a:r>
              <a:rPr lang="en-US" sz="1350" dirty="0">
                <a:solidFill>
                  <a:srgbClr val="94A3B8"/>
                </a:solidFill>
                <a:latin typeface="Calibri" pitchFamily="34" charset="0"/>
                <a:ea typeface="Calibri" pitchFamily="34" charset="-122"/>
                <a:cs typeface="Calibri" pitchFamily="34" charset="-120"/>
              </a:rPr>
              <a:t>Groq free tier</a:t>
            </a:r>
            <a:endParaRPr lang="en-US" sz="1350" dirty="0"/>
          </a:p>
          <a:p>
            <a:pPr marL="177800" indent="-177800">
              <a:spcAft>
                <a:spcPts val="800"/>
              </a:spcAft>
              <a:buSzPct val="100000"/>
              <a:buChar char="•"/>
            </a:pPr>
            <a:r>
              <a:rPr lang="en-US" sz="1350" dirty="0">
                <a:solidFill>
                  <a:srgbClr val="94A3B8"/>
                </a:solidFill>
                <a:latin typeface="Calibri" pitchFamily="34" charset="0"/>
                <a:ea typeface="Calibri" pitchFamily="34" charset="-122"/>
                <a:cs typeface="Calibri" pitchFamily="34" charset="-120"/>
              </a:rPr>
              <a:t>gpt-oss-120b plans</a:t>
            </a:r>
            <a:endParaRPr lang="en-US" sz="1350" dirty="0"/>
          </a:p>
          <a:p>
            <a:pPr marL="177800" indent="-177800">
              <a:spcAft>
                <a:spcPts val="800"/>
              </a:spcAft>
              <a:buSzPct val="100000"/>
              <a:buChar char="•"/>
            </a:pPr>
            <a:r>
              <a:rPr lang="en-US" sz="1350" dirty="0">
                <a:solidFill>
                  <a:srgbClr val="94A3B8"/>
                </a:solidFill>
                <a:latin typeface="Calibri" pitchFamily="34" charset="0"/>
                <a:ea typeface="Calibri" pitchFamily="34" charset="-122"/>
                <a:cs typeface="Calibri" pitchFamily="34" charset="-120"/>
              </a:rPr>
              <a:t>qwen3 extracts</a:t>
            </a:r>
            <a:endParaRPr lang="en-US" sz="1350" dirty="0"/>
          </a:p>
          <a:p>
            <a:pPr marL="177800" indent="-177800">
              <a:spcAft>
                <a:spcPts val="800"/>
              </a:spcAft>
              <a:buSzPct val="100000"/>
              <a:buChar char="•"/>
            </a:pPr>
            <a:r>
              <a:rPr lang="en-US" sz="1350" dirty="0">
                <a:solidFill>
                  <a:srgbClr val="94A3B8"/>
                </a:solidFill>
                <a:latin typeface="Calibri" pitchFamily="34" charset="0"/>
                <a:ea typeface="Calibri" pitchFamily="34" charset="-122"/>
                <a:cs typeface="Calibri" pitchFamily="34" charset="-120"/>
              </a:rPr>
              <a:t>Auto model fallback on 429</a:t>
            </a:r>
            <a:endParaRPr lang="en-US" sz="1350" dirty="0"/>
          </a:p>
        </p:txBody>
      </p:sp>
      <p:sp>
        <p:nvSpPr>
          <p:cNvPr id="19" name="Shape 14"/>
          <p:cNvSpPr/>
          <p:nvPr/>
        </p:nvSpPr>
        <p:spPr>
          <a:xfrm>
            <a:off x="9052560" y="1828800"/>
            <a:ext cx="2606040" cy="3246120"/>
          </a:xfrm>
          <a:prstGeom prst="roundRect">
            <a:avLst>
              <a:gd name="adj" fmla="val 4211"/>
            </a:avLst>
          </a:prstGeom>
          <a:solidFill>
            <a:srgbClr val="0F1728"/>
          </a:solidFill>
          <a:ln w="12700">
            <a:solidFill>
              <a:srgbClr val="243352"/>
            </a:solidFill>
            <a:prstDash val="solid"/>
          </a:ln>
          <a:effectLst>
            <a:outerShdw sx="100000" sy="100000" kx="0" ky="0" algn="bl" rotWithShape="0" blurRad="101600" dist="25400" dir="5400000">
              <a:srgbClr val="000000">
                <a:alpha val="35000"/>
              </a:srgbClr>
            </a:outerShdw>
          </a:effectLst>
        </p:spPr>
      </p:sp>
      <p:sp>
        <p:nvSpPr>
          <p:cNvPr id="20" name="Shape 15"/>
          <p:cNvSpPr/>
          <p:nvPr/>
        </p:nvSpPr>
        <p:spPr>
          <a:xfrm>
            <a:off x="9326880" y="2103120"/>
            <a:ext cx="603504" cy="603504"/>
          </a:xfrm>
          <a:prstGeom prst="ellipse">
            <a:avLst/>
          </a:prstGeom>
          <a:solidFill>
            <a:srgbClr val="2DD4BF">
              <a:alpha val="18000"/>
            </a:srgbClr>
          </a:solidFill>
          <a:ln w="12700">
            <a:solidFill>
              <a:srgbClr val="2DD4BF">
                <a:alpha val="45000"/>
              </a:srgbClr>
            </a:solidFill>
            <a:prstDash val="solid"/>
          </a:ln>
        </p:spPr>
      </p:sp>
      <p:pic>
        <p:nvPicPr>
          <p:cNvPr id="21" name="Image 3" descr="preencoded.png">    </p:cNvPr>
          <p:cNvPicPr>
            <a:picLocks noChangeAspect="1"/>
          </p:cNvPicPr>
          <p:nvPr/>
        </p:nvPicPr>
        <p:blipFill>
          <a:blip r:embed="rId4"/>
          <a:stretch>
            <a:fillRect/>
          </a:stretch>
        </p:blipFill>
        <p:spPr>
          <a:xfrm>
            <a:off x="9471721" y="2247961"/>
            <a:ext cx="313822" cy="313822"/>
          </a:xfrm>
          <a:prstGeom prst="rect">
            <a:avLst/>
          </a:prstGeom>
        </p:spPr>
      </p:pic>
      <p:sp>
        <p:nvSpPr>
          <p:cNvPr id="22" name="Text 16"/>
          <p:cNvSpPr txBox="1"/>
          <p:nvPr/>
        </p:nvSpPr>
        <p:spPr>
          <a:xfrm>
            <a:off x="9326880" y="2834640"/>
            <a:ext cx="2148840" cy="457200"/>
          </a:xfrm>
          <a:prstGeom prst="rect">
            <a:avLst/>
          </a:prstGeom>
          <a:noFill/>
          <a:ln/>
        </p:spPr>
        <p:txBody>
          <a:bodyPr wrap="square" lIns="0" tIns="0" rIns="0" bIns="0" rtlCol="0" anchor="ctr"/>
          <a:lstStyle/>
          <a:p>
            <a:pPr indent="0" marL="0">
              <a:buNone/>
            </a:pPr>
            <a:r>
              <a:rPr lang="en-US" sz="2000" b="1" dirty="0">
                <a:solidFill>
                  <a:srgbClr val="E7ECF5"/>
                </a:solidFill>
                <a:latin typeface="Calibri" pitchFamily="34" charset="0"/>
                <a:ea typeface="Calibri" pitchFamily="34" charset="-122"/>
                <a:cs typeface="Calibri" pitchFamily="34" charset="-120"/>
              </a:rPr>
              <a:t>Data &amp; hosting</a:t>
            </a:r>
            <a:endParaRPr lang="en-US" sz="2000" dirty="0"/>
          </a:p>
        </p:txBody>
      </p:sp>
      <p:sp>
        <p:nvSpPr>
          <p:cNvPr id="23" name="Text 17"/>
          <p:cNvSpPr txBox="1"/>
          <p:nvPr/>
        </p:nvSpPr>
        <p:spPr>
          <a:xfrm>
            <a:off x="9326880" y="3383280"/>
            <a:ext cx="2194560" cy="1554480"/>
          </a:xfrm>
          <a:prstGeom prst="rect">
            <a:avLst/>
          </a:prstGeom>
          <a:noFill/>
          <a:ln/>
        </p:spPr>
        <p:txBody>
          <a:bodyPr wrap="square" lIns="0" tIns="0" rIns="0" bIns="0" rtlCol="0" anchor="t"/>
          <a:lstStyle/>
          <a:p>
            <a:pPr marL="177800" indent="-177800">
              <a:spcAft>
                <a:spcPts val="800"/>
              </a:spcAft>
              <a:buSzPct val="100000"/>
              <a:buChar char="•"/>
            </a:pPr>
            <a:r>
              <a:rPr lang="en-US" sz="1350" dirty="0">
                <a:solidFill>
                  <a:srgbClr val="94A3B8"/>
                </a:solidFill>
                <a:latin typeface="Calibri" pitchFamily="34" charset="0"/>
                <a:ea typeface="Calibri" pitchFamily="34" charset="-122"/>
                <a:cs typeface="Calibri" pitchFamily="34" charset="-120"/>
              </a:rPr>
              <a:t>Tavily / ddgs search</a:t>
            </a:r>
            <a:endParaRPr lang="en-US" sz="1350" dirty="0"/>
          </a:p>
          <a:p>
            <a:pPr marL="177800" indent="-177800">
              <a:spcAft>
                <a:spcPts val="800"/>
              </a:spcAft>
              <a:buSzPct val="100000"/>
              <a:buChar char="•"/>
            </a:pPr>
            <a:r>
              <a:rPr lang="en-US" sz="1350" dirty="0">
                <a:solidFill>
                  <a:srgbClr val="94A3B8"/>
                </a:solidFill>
                <a:latin typeface="Calibri" pitchFamily="34" charset="0"/>
                <a:ea typeface="Calibri" pitchFamily="34" charset="-122"/>
                <a:cs typeface="Calibri" pitchFamily="34" charset="-120"/>
              </a:rPr>
              <a:t>Playwright or Jina Reader</a:t>
            </a:r>
            <a:endParaRPr lang="en-US" sz="1350" dirty="0"/>
          </a:p>
          <a:p>
            <a:pPr marL="177800" indent="-177800">
              <a:spcAft>
                <a:spcPts val="800"/>
              </a:spcAft>
              <a:buSzPct val="100000"/>
              <a:buChar char="•"/>
            </a:pPr>
            <a:r>
              <a:rPr lang="en-US" sz="1350" dirty="0">
                <a:solidFill>
                  <a:srgbClr val="94A3B8"/>
                </a:solidFill>
                <a:latin typeface="Calibri" pitchFamily="34" charset="0"/>
                <a:ea typeface="Calibri" pitchFamily="34" charset="-122"/>
                <a:cs typeface="Calibri" pitchFamily="34" charset="-120"/>
              </a:rPr>
              <a:t>SQLite · Postgres</a:t>
            </a:r>
            <a:endParaRPr lang="en-US" sz="1350" dirty="0"/>
          </a:p>
          <a:p>
            <a:pPr marL="177800" indent="-177800">
              <a:spcAft>
                <a:spcPts val="800"/>
              </a:spcAft>
              <a:buSzPct val="100000"/>
              <a:buChar char="•"/>
            </a:pPr>
            <a:r>
              <a:rPr lang="en-US" sz="1350" dirty="0">
                <a:solidFill>
                  <a:srgbClr val="94A3B8"/>
                </a:solidFill>
                <a:latin typeface="Calibri" pitchFamily="34" charset="0"/>
                <a:ea typeface="Calibri" pitchFamily="34" charset="-122"/>
                <a:cs typeface="Calibri" pitchFamily="34" charset="-120"/>
              </a:rPr>
              <a:t>Vercel + Render</a:t>
            </a:r>
            <a:endParaRPr lang="en-US" sz="1350" dirty="0"/>
          </a:p>
        </p:txBody>
      </p:sp>
      <p:sp>
        <p:nvSpPr>
          <p:cNvPr id="24" name="Shape 18"/>
          <p:cNvSpPr/>
          <p:nvPr/>
        </p:nvSpPr>
        <p:spPr>
          <a:xfrm>
            <a:off x="548640" y="5349240"/>
            <a:ext cx="11064240" cy="868680"/>
          </a:xfrm>
          <a:prstGeom prst="roundRect">
            <a:avLst>
              <a:gd name="adj" fmla="val 12632"/>
            </a:avLst>
          </a:prstGeom>
          <a:solidFill>
            <a:srgbClr val="0F1728"/>
          </a:solidFill>
          <a:ln w="12700">
            <a:solidFill>
              <a:srgbClr val="243352"/>
            </a:solidFill>
            <a:prstDash val="solid"/>
          </a:ln>
          <a:effectLst>
            <a:outerShdw sx="100000" sy="100000" kx="0" ky="0" algn="bl" rotWithShape="0" blurRad="101600" dist="25400" dir="5400000">
              <a:srgbClr val="000000">
                <a:alpha val="35000"/>
              </a:srgbClr>
            </a:outerShdw>
          </a:effectLst>
        </p:spPr>
      </p:sp>
      <p:sp>
        <p:nvSpPr>
          <p:cNvPr id="25" name="Shape 19"/>
          <p:cNvSpPr/>
          <p:nvPr/>
        </p:nvSpPr>
        <p:spPr>
          <a:xfrm>
            <a:off x="822960" y="5486400"/>
            <a:ext cx="585216" cy="585216"/>
          </a:xfrm>
          <a:prstGeom prst="ellipse">
            <a:avLst/>
          </a:prstGeom>
          <a:solidFill>
            <a:srgbClr val="2DD4BF">
              <a:alpha val="18000"/>
            </a:srgbClr>
          </a:solidFill>
          <a:ln w="12700">
            <a:solidFill>
              <a:srgbClr val="2DD4BF">
                <a:alpha val="45000"/>
              </a:srgbClr>
            </a:solidFill>
            <a:prstDash val="solid"/>
          </a:ln>
        </p:spPr>
      </p:sp>
      <p:pic>
        <p:nvPicPr>
          <p:cNvPr id="26" name="Image 4" descr="preencoded.png">    </p:cNvPr>
          <p:cNvPicPr>
            <a:picLocks noChangeAspect="1"/>
          </p:cNvPicPr>
          <p:nvPr/>
        </p:nvPicPr>
        <p:blipFill>
          <a:blip r:embed="rId5"/>
          <a:stretch>
            <a:fillRect/>
          </a:stretch>
        </p:blipFill>
        <p:spPr>
          <a:xfrm>
            <a:off x="963412" y="5626852"/>
            <a:ext cx="304312" cy="304312"/>
          </a:xfrm>
          <a:prstGeom prst="rect">
            <a:avLst/>
          </a:prstGeom>
        </p:spPr>
      </p:pic>
      <p:sp>
        <p:nvSpPr>
          <p:cNvPr id="27" name="Text 20"/>
          <p:cNvSpPr txBox="1"/>
          <p:nvPr/>
        </p:nvSpPr>
        <p:spPr>
          <a:xfrm>
            <a:off x="1645920" y="5349240"/>
            <a:ext cx="9784080" cy="868680"/>
          </a:xfrm>
          <a:prstGeom prst="rect">
            <a:avLst/>
          </a:prstGeom>
          <a:noFill/>
          <a:ln/>
        </p:spPr>
        <p:txBody>
          <a:bodyPr wrap="square" lIns="0" tIns="0" rIns="0" bIns="0" rtlCol="0" anchor="ctr"/>
          <a:lstStyle/>
          <a:p>
            <a:pPr indent="0" marL="0">
              <a:buNone/>
            </a:pPr>
            <a:r>
              <a:rPr lang="en-US" sz="1500" b="1" dirty="0">
                <a:solidFill>
                  <a:srgbClr val="2DD4BF"/>
                </a:solidFill>
                <a:latin typeface="Calibri" pitchFamily="34" charset="0"/>
                <a:ea typeface="Calibri" pitchFamily="34" charset="-122"/>
                <a:cs typeface="Calibri" pitchFamily="34" charset="-120"/>
              </a:rPr>
              <a:t>Free to run:  </a:t>
            </a:r>
            <a:pPr indent="0" marL="0">
              <a:buNone/>
            </a:pPr>
            <a:r>
              <a:rPr lang="en-US" sz="1500" dirty="0">
                <a:solidFill>
                  <a:srgbClr val="E7ECF5"/>
                </a:solidFill>
                <a:latin typeface="Calibri" pitchFamily="34" charset="0"/>
                <a:ea typeface="Calibri" pitchFamily="34" charset="-122"/>
                <a:cs typeface="Calibri" pitchFamily="34" charset="-120"/>
              </a:rPr>
              <a:t>Groq · Tavily · Jina Reader · Vercel · Render — every LLM answer, search and page is cached, so repeat runs cost almost nothing.</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60A1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41848" y="822960"/>
            <a:ext cx="914400" cy="914400"/>
          </a:xfrm>
          <a:prstGeom prst="rect">
            <a:avLst/>
          </a:prstGeom>
        </p:spPr>
      </p:pic>
      <p:sp>
        <p:nvSpPr>
          <p:cNvPr id="3" name="Text 0"/>
          <p:cNvSpPr txBox="1"/>
          <p:nvPr/>
        </p:nvSpPr>
        <p:spPr>
          <a:xfrm>
            <a:off x="548640" y="1920240"/>
            <a:ext cx="11064240" cy="914400"/>
          </a:xfrm>
          <a:prstGeom prst="rect">
            <a:avLst/>
          </a:prstGeom>
          <a:noFill/>
          <a:ln/>
        </p:spPr>
        <p:txBody>
          <a:bodyPr wrap="square" lIns="0" tIns="0" rIns="0" bIns="0" rtlCol="0" anchor="ctr"/>
          <a:lstStyle/>
          <a:p>
            <a:pPr algn="ctr" indent="0" marL="0">
              <a:buNone/>
            </a:pPr>
            <a:r>
              <a:rPr lang="en-US" sz="4800" b="1" dirty="0">
                <a:solidFill>
                  <a:srgbClr val="E7ECF5"/>
                </a:solidFill>
                <a:latin typeface="Calibri" pitchFamily="34" charset="0"/>
                <a:ea typeface="Calibri" pitchFamily="34" charset="-122"/>
                <a:cs typeface="Calibri" pitchFamily="34" charset="-120"/>
              </a:rPr>
              <a:t>No quote, no value.</a:t>
            </a:r>
            <a:endParaRPr lang="en-US" sz="4800" dirty="0"/>
          </a:p>
        </p:txBody>
      </p:sp>
      <p:sp>
        <p:nvSpPr>
          <p:cNvPr id="4" name="Text 1"/>
          <p:cNvSpPr txBox="1"/>
          <p:nvPr/>
        </p:nvSpPr>
        <p:spPr>
          <a:xfrm>
            <a:off x="548640" y="2788920"/>
            <a:ext cx="11064240" cy="502920"/>
          </a:xfrm>
          <a:prstGeom prst="rect">
            <a:avLst/>
          </a:prstGeom>
          <a:noFill/>
          <a:ln/>
        </p:spPr>
        <p:txBody>
          <a:bodyPr wrap="square" lIns="0" tIns="0" rIns="0" bIns="0" rtlCol="0" anchor="ctr"/>
          <a:lstStyle/>
          <a:p>
            <a:pPr algn="ctr" indent="0" marL="0">
              <a:buNone/>
            </a:pPr>
            <a:r>
              <a:rPr lang="en-US" sz="2200" dirty="0">
                <a:solidFill>
                  <a:srgbClr val="2DD4BF"/>
                </a:solidFill>
                <a:latin typeface="Calibri" pitchFamily="34" charset="0"/>
                <a:ea typeface="Calibri" pitchFamily="34" charset="-122"/>
                <a:cs typeface="Calibri" pitchFamily="34" charset="-120"/>
              </a:rPr>
              <a:t>Try Scout with your own question.</a:t>
            </a:r>
            <a:endParaRPr lang="en-US" sz="2200" dirty="0"/>
          </a:p>
        </p:txBody>
      </p:sp>
      <p:sp>
        <p:nvSpPr>
          <p:cNvPr id="5" name="Shape 2"/>
          <p:cNvSpPr/>
          <p:nvPr/>
        </p:nvSpPr>
        <p:spPr>
          <a:xfrm>
            <a:off x="868680" y="3794760"/>
            <a:ext cx="3291840" cy="1417320"/>
          </a:xfrm>
          <a:prstGeom prst="roundRect">
            <a:avLst>
              <a:gd name="adj" fmla="val 7742"/>
            </a:avLst>
          </a:prstGeom>
          <a:solidFill>
            <a:srgbClr val="0F1728"/>
          </a:solidFill>
          <a:ln w="12700">
            <a:solidFill>
              <a:srgbClr val="243352"/>
            </a:solidFill>
            <a:prstDash val="solid"/>
          </a:ln>
          <a:effectLst>
            <a:outerShdw sx="100000" sy="100000" kx="0" ky="0" algn="bl" rotWithShape="0" blurRad="101600" dist="25400" dir="5400000">
              <a:srgbClr val="000000">
                <a:alpha val="35000"/>
              </a:srgbClr>
            </a:outerShdw>
          </a:effectLst>
        </p:spPr>
      </p:sp>
      <p:sp>
        <p:nvSpPr>
          <p:cNvPr id="6" name="Shape 3"/>
          <p:cNvSpPr/>
          <p:nvPr/>
        </p:nvSpPr>
        <p:spPr>
          <a:xfrm>
            <a:off x="1143000" y="4206240"/>
            <a:ext cx="603504" cy="603504"/>
          </a:xfrm>
          <a:prstGeom prst="ellipse">
            <a:avLst/>
          </a:prstGeom>
          <a:solidFill>
            <a:srgbClr val="2DD4BF">
              <a:alpha val="18000"/>
            </a:srgbClr>
          </a:solidFill>
          <a:ln w="12700">
            <a:solidFill>
              <a:srgbClr val="2DD4BF">
                <a:alpha val="45000"/>
              </a:srgbClr>
            </a:solidFill>
            <a:prstDash val="solid"/>
          </a:ln>
        </p:spPr>
      </p:sp>
      <p:pic>
        <p:nvPicPr>
          <p:cNvPr id="7" name="Image 1" descr="preencoded.png">    </p:cNvPr>
          <p:cNvPicPr>
            <a:picLocks noChangeAspect="1"/>
          </p:cNvPicPr>
          <p:nvPr/>
        </p:nvPicPr>
        <p:blipFill>
          <a:blip r:embed="rId2"/>
          <a:stretch>
            <a:fillRect/>
          </a:stretch>
        </p:blipFill>
        <p:spPr>
          <a:xfrm>
            <a:off x="1287841" y="4351081"/>
            <a:ext cx="313822" cy="313822"/>
          </a:xfrm>
          <a:prstGeom prst="rect">
            <a:avLst/>
          </a:prstGeom>
        </p:spPr>
      </p:pic>
      <p:sp>
        <p:nvSpPr>
          <p:cNvPr id="8" name="Text 4"/>
          <p:cNvSpPr txBox="1"/>
          <p:nvPr/>
        </p:nvSpPr>
        <p:spPr>
          <a:xfrm>
            <a:off x="1920240" y="4069080"/>
            <a:ext cx="2103120" cy="411480"/>
          </a:xfrm>
          <a:prstGeom prst="rect">
            <a:avLst/>
          </a:prstGeom>
          <a:noFill/>
          <a:ln/>
        </p:spPr>
        <p:txBody>
          <a:bodyPr wrap="square" lIns="0" tIns="0" rIns="0" bIns="0" rtlCol="0" anchor="ctr"/>
          <a:lstStyle/>
          <a:p>
            <a:pPr indent="0" marL="0">
              <a:buNone/>
            </a:pPr>
            <a:r>
              <a:rPr lang="en-US" sz="1700" b="1" dirty="0">
                <a:solidFill>
                  <a:srgbClr val="E7ECF5"/>
                </a:solidFill>
                <a:latin typeface="Calibri" pitchFamily="34" charset="0"/>
                <a:ea typeface="Calibri" pitchFamily="34" charset="-122"/>
                <a:cs typeface="Calibri" pitchFamily="34" charset="-120"/>
              </a:rPr>
              <a:t>Live app</a:t>
            </a:r>
            <a:endParaRPr lang="en-US" sz="1700" dirty="0"/>
          </a:p>
        </p:txBody>
      </p:sp>
      <p:sp>
        <p:nvSpPr>
          <p:cNvPr id="9" name="Text 5"/>
          <p:cNvSpPr txBox="1"/>
          <p:nvPr/>
        </p:nvSpPr>
        <p:spPr>
          <a:xfrm>
            <a:off x="1920240" y="4498848"/>
            <a:ext cx="2148840" cy="411480"/>
          </a:xfrm>
          <a:prstGeom prst="rect">
            <a:avLst/>
          </a:prstGeom>
          <a:noFill/>
          <a:ln/>
        </p:spPr>
        <p:txBody>
          <a:bodyPr wrap="square" lIns="0" tIns="0" rIns="0" bIns="0" rtlCol="0" anchor="t"/>
          <a:lstStyle/>
          <a:p>
            <a:pPr indent="0" marL="0">
              <a:buNone/>
            </a:pPr>
            <a:r>
              <a:rPr lang="en-US" sz="1300" u="sng" dirty="0">
                <a:solidFill>
                  <a:srgbClr val="38BDF8"/>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scout-online.vercel.app</a:t>
            </a:r>
            <a:endParaRPr lang="en-US" sz="1300" dirty="0"/>
          </a:p>
        </p:txBody>
      </p:sp>
      <p:sp>
        <p:nvSpPr>
          <p:cNvPr id="10" name="Shape 6"/>
          <p:cNvSpPr/>
          <p:nvPr/>
        </p:nvSpPr>
        <p:spPr>
          <a:xfrm>
            <a:off x="4480560" y="3794760"/>
            <a:ext cx="3291840" cy="1417320"/>
          </a:xfrm>
          <a:prstGeom prst="roundRect">
            <a:avLst>
              <a:gd name="adj" fmla="val 7742"/>
            </a:avLst>
          </a:prstGeom>
          <a:solidFill>
            <a:srgbClr val="0F1728"/>
          </a:solidFill>
          <a:ln w="12700">
            <a:solidFill>
              <a:srgbClr val="243352"/>
            </a:solidFill>
            <a:prstDash val="solid"/>
          </a:ln>
          <a:effectLst>
            <a:outerShdw sx="100000" sy="100000" kx="0" ky="0" algn="bl" rotWithShape="0" blurRad="101600" dist="25400" dir="5400000">
              <a:srgbClr val="000000">
                <a:alpha val="35000"/>
              </a:srgbClr>
            </a:outerShdw>
          </a:effectLst>
        </p:spPr>
      </p:sp>
      <p:sp>
        <p:nvSpPr>
          <p:cNvPr id="11" name="Shape 7"/>
          <p:cNvSpPr/>
          <p:nvPr/>
        </p:nvSpPr>
        <p:spPr>
          <a:xfrm>
            <a:off x="4754880" y="4206240"/>
            <a:ext cx="603504" cy="603504"/>
          </a:xfrm>
          <a:prstGeom prst="ellipse">
            <a:avLst/>
          </a:prstGeom>
          <a:solidFill>
            <a:srgbClr val="2DD4BF">
              <a:alpha val="18000"/>
            </a:srgbClr>
          </a:solidFill>
          <a:ln w="12700">
            <a:solidFill>
              <a:srgbClr val="2DD4BF">
                <a:alpha val="45000"/>
              </a:srgbClr>
            </a:solidFill>
            <a:prstDash val="solid"/>
          </a:ln>
        </p:spPr>
      </p:sp>
      <p:pic>
        <p:nvPicPr>
          <p:cNvPr id="12" name="Image 2" descr="preencoded.png">    </p:cNvPr>
          <p:cNvPicPr>
            <a:picLocks noChangeAspect="1"/>
          </p:cNvPicPr>
          <p:nvPr/>
        </p:nvPicPr>
        <p:blipFill>
          <a:blip r:embed="rId4"/>
          <a:stretch>
            <a:fillRect/>
          </a:stretch>
        </p:blipFill>
        <p:spPr>
          <a:xfrm>
            <a:off x="4899721" y="4351081"/>
            <a:ext cx="313822" cy="313822"/>
          </a:xfrm>
          <a:prstGeom prst="rect">
            <a:avLst/>
          </a:prstGeom>
        </p:spPr>
      </p:pic>
      <p:sp>
        <p:nvSpPr>
          <p:cNvPr id="13" name="Text 8"/>
          <p:cNvSpPr txBox="1"/>
          <p:nvPr/>
        </p:nvSpPr>
        <p:spPr>
          <a:xfrm>
            <a:off x="5532120" y="4069080"/>
            <a:ext cx="2103120" cy="411480"/>
          </a:xfrm>
          <a:prstGeom prst="rect">
            <a:avLst/>
          </a:prstGeom>
          <a:noFill/>
          <a:ln/>
        </p:spPr>
        <p:txBody>
          <a:bodyPr wrap="square" lIns="0" tIns="0" rIns="0" bIns="0" rtlCol="0" anchor="ctr"/>
          <a:lstStyle/>
          <a:p>
            <a:pPr indent="0" marL="0">
              <a:buNone/>
            </a:pPr>
            <a:r>
              <a:rPr lang="en-US" sz="1700" b="1" dirty="0">
                <a:solidFill>
                  <a:srgbClr val="E7ECF5"/>
                </a:solidFill>
                <a:latin typeface="Calibri" pitchFamily="34" charset="0"/>
                <a:ea typeface="Calibri" pitchFamily="34" charset="-122"/>
                <a:cs typeface="Calibri" pitchFamily="34" charset="-120"/>
              </a:rPr>
              <a:t>Source code</a:t>
            </a:r>
            <a:endParaRPr lang="en-US" sz="1700" dirty="0"/>
          </a:p>
        </p:txBody>
      </p:sp>
      <p:sp>
        <p:nvSpPr>
          <p:cNvPr id="14" name="Text 9"/>
          <p:cNvSpPr txBox="1"/>
          <p:nvPr/>
        </p:nvSpPr>
        <p:spPr>
          <a:xfrm>
            <a:off x="5532120" y="4498848"/>
            <a:ext cx="2148840" cy="411480"/>
          </a:xfrm>
          <a:prstGeom prst="rect">
            <a:avLst/>
          </a:prstGeom>
          <a:noFill/>
          <a:ln/>
        </p:spPr>
        <p:txBody>
          <a:bodyPr wrap="square" lIns="0" tIns="0" rIns="0" bIns="0" rtlCol="0" anchor="t"/>
          <a:lstStyle/>
          <a:p>
            <a:pPr indent="0" marL="0">
              <a:buNone/>
            </a:pPr>
            <a:r>
              <a:rPr lang="en-US" sz="1300" u="sng" dirty="0">
                <a:solidFill>
                  <a:srgbClr val="38BDF8"/>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github.com/geekksv/scout</a:t>
            </a:r>
            <a:endParaRPr lang="en-US" sz="1300" dirty="0"/>
          </a:p>
        </p:txBody>
      </p:sp>
      <p:sp>
        <p:nvSpPr>
          <p:cNvPr id="15" name="Shape 10"/>
          <p:cNvSpPr/>
          <p:nvPr/>
        </p:nvSpPr>
        <p:spPr>
          <a:xfrm>
            <a:off x="8092440" y="3794760"/>
            <a:ext cx="3291840" cy="1417320"/>
          </a:xfrm>
          <a:prstGeom prst="roundRect">
            <a:avLst>
              <a:gd name="adj" fmla="val 7742"/>
            </a:avLst>
          </a:prstGeom>
          <a:solidFill>
            <a:srgbClr val="0F1728"/>
          </a:solidFill>
          <a:ln w="12700">
            <a:solidFill>
              <a:srgbClr val="243352"/>
            </a:solidFill>
            <a:prstDash val="solid"/>
          </a:ln>
          <a:effectLst>
            <a:outerShdw sx="100000" sy="100000" kx="0" ky="0" algn="bl" rotWithShape="0" blurRad="101600" dist="25400" dir="5400000">
              <a:srgbClr val="000000">
                <a:alpha val="35000"/>
              </a:srgbClr>
            </a:outerShdw>
          </a:effectLst>
        </p:spPr>
      </p:sp>
      <p:sp>
        <p:nvSpPr>
          <p:cNvPr id="16" name="Shape 11"/>
          <p:cNvSpPr/>
          <p:nvPr/>
        </p:nvSpPr>
        <p:spPr>
          <a:xfrm>
            <a:off x="8366760" y="4206240"/>
            <a:ext cx="603504" cy="603504"/>
          </a:xfrm>
          <a:prstGeom prst="ellipse">
            <a:avLst/>
          </a:prstGeom>
          <a:solidFill>
            <a:srgbClr val="2DD4BF">
              <a:alpha val="18000"/>
            </a:srgbClr>
          </a:solidFill>
          <a:ln w="12700">
            <a:solidFill>
              <a:srgbClr val="2DD4BF">
                <a:alpha val="45000"/>
              </a:srgbClr>
            </a:solidFill>
            <a:prstDash val="solid"/>
          </a:ln>
        </p:spPr>
      </p:sp>
      <p:pic>
        <p:nvPicPr>
          <p:cNvPr id="17" name="Image 3" descr="preencoded.png">    </p:cNvPr>
          <p:cNvPicPr>
            <a:picLocks noChangeAspect="1"/>
          </p:cNvPicPr>
          <p:nvPr/>
        </p:nvPicPr>
        <p:blipFill>
          <a:blip r:embed="rId6"/>
          <a:stretch>
            <a:fillRect/>
          </a:stretch>
        </p:blipFill>
        <p:spPr>
          <a:xfrm>
            <a:off x="8511601" y="4351081"/>
            <a:ext cx="313822" cy="313822"/>
          </a:xfrm>
          <a:prstGeom prst="rect">
            <a:avLst/>
          </a:prstGeom>
        </p:spPr>
      </p:pic>
      <p:sp>
        <p:nvSpPr>
          <p:cNvPr id="18" name="Text 12"/>
          <p:cNvSpPr txBox="1"/>
          <p:nvPr/>
        </p:nvSpPr>
        <p:spPr>
          <a:xfrm>
            <a:off x="9144000" y="4069080"/>
            <a:ext cx="2103120" cy="411480"/>
          </a:xfrm>
          <a:prstGeom prst="rect">
            <a:avLst/>
          </a:prstGeom>
          <a:noFill/>
          <a:ln/>
        </p:spPr>
        <p:txBody>
          <a:bodyPr wrap="square" lIns="0" tIns="0" rIns="0" bIns="0" rtlCol="0" anchor="ctr"/>
          <a:lstStyle/>
          <a:p>
            <a:pPr indent="0" marL="0">
              <a:buNone/>
            </a:pPr>
            <a:r>
              <a:rPr lang="en-US" sz="1700" b="1" dirty="0">
                <a:solidFill>
                  <a:srgbClr val="E7ECF5"/>
                </a:solidFill>
                <a:latin typeface="Calibri" pitchFamily="34" charset="0"/>
                <a:ea typeface="Calibri" pitchFamily="34" charset="-122"/>
                <a:cs typeface="Calibri" pitchFamily="34" charset="-120"/>
              </a:rPr>
              <a:t>Demo video</a:t>
            </a:r>
            <a:endParaRPr lang="en-US" sz="1700" dirty="0"/>
          </a:p>
        </p:txBody>
      </p:sp>
      <p:sp>
        <p:nvSpPr>
          <p:cNvPr id="19" name="Text 13"/>
          <p:cNvSpPr txBox="1"/>
          <p:nvPr/>
        </p:nvSpPr>
        <p:spPr>
          <a:xfrm>
            <a:off x="9144000" y="4498848"/>
            <a:ext cx="2148840" cy="411480"/>
          </a:xfrm>
          <a:prstGeom prst="rect">
            <a:avLst/>
          </a:prstGeom>
          <a:noFill/>
          <a:ln/>
        </p:spPr>
        <p:txBody>
          <a:bodyPr wrap="square" lIns="0" tIns="0" rIns="0" bIns="0" rtlCol="0" anchor="t"/>
          <a:lstStyle/>
          <a:p>
            <a:pPr indent="0" marL="0">
              <a:buNone/>
            </a:pPr>
            <a:r>
              <a:rPr lang="en-US" sz="1300" u="sng" dirty="0">
                <a:solidFill>
                  <a:srgbClr val="38BDF8"/>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GitHub release v1.0.0</a:t>
            </a:r>
            <a:endParaRPr lang="en-US" sz="1300" dirty="0"/>
          </a:p>
        </p:txBody>
      </p:sp>
      <p:sp>
        <p:nvSpPr>
          <p:cNvPr id="20" name="Text 14"/>
          <p:cNvSpPr txBox="1"/>
          <p:nvPr/>
        </p:nvSpPr>
        <p:spPr>
          <a:xfrm>
            <a:off x="548640" y="5943600"/>
            <a:ext cx="11064240" cy="365760"/>
          </a:xfrm>
          <a:prstGeom prst="rect">
            <a:avLst/>
          </a:prstGeom>
          <a:noFill/>
          <a:ln/>
        </p:spPr>
        <p:txBody>
          <a:bodyPr wrap="square" lIns="0" tIns="0" rIns="0" bIns="0"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Built by geekksv · Code Cubicle 6.0 · Problem Statement 01</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Code Cubicle 6.0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Scout — AI-Powered Data Intelligence Platform</dc:title>
  <dc:subject>PptxGenJS Presentation</dc:subject>
  <dc:creator>geekksv</dc:creator>
  <cp:lastModifiedBy>geekksv</cp:lastModifiedBy>
  <cp:revision>1</cp:revision>
  <dcterms:created xsi:type="dcterms:W3CDTF">2026-09-30T10:04:40Z</dcterms:created>
  <dcterms:modified xsi:type="dcterms:W3CDTF">2026-09-30T10:04:40Z</dcterms:modified>
</cp:coreProperties>
</file>